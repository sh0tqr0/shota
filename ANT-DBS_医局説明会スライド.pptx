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389120"/>
            <a:ext cx="12188952" cy="2468880"/>
          </a:xfrm>
          <a:prstGeom prst="rect">
            <a:avLst/>
          </a:prstGeom>
          <a:solidFill>
            <a:srgbClr val="001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371600"/>
            <a:ext cx="109728" cy="2011680"/>
          </a:xfrm>
          <a:prstGeom prst="rect">
            <a:avLst/>
          </a:prstGeom>
          <a:solidFill>
            <a:srgbClr val="00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80160"/>
            <a:ext cx="9144000" cy="2286000"/>
          </a:xfrm>
          <a:prstGeom prst="rect">
            <a:avLst/>
          </a:prstGeom>
          <a:noFill/>
        </p:spPr>
        <p:txBody>
          <a:bodyPr wrap="square">
            <a:spAutoFit/>
          </a:bodyPr>
          <a:lstStyle/>
          <a:p>
            <a:pPr algn="l"/>
            <a:r>
              <a:rPr b="1" i="0" sz="4000">
                <a:solidFill>
                  <a:srgbClr val="FFFFFF"/>
                </a:solidFill>
                <a:latin typeface="Noto Sans JP"/>
              </a:rPr>
              <a:t>薬剤抵抗性てんかんに、
より確かな選択を。</a:t>
            </a:r>
          </a:p>
        </p:txBody>
      </p:sp>
      <p:sp>
        <p:nvSpPr>
          <p:cNvPr id="6" name="TextBox 5"/>
          <p:cNvSpPr txBox="1"/>
          <p:nvPr/>
        </p:nvSpPr>
        <p:spPr>
          <a:xfrm>
            <a:off x="640080" y="3566160"/>
            <a:ext cx="9144000" cy="640080"/>
          </a:xfrm>
          <a:prstGeom prst="rect">
            <a:avLst/>
          </a:prstGeom>
          <a:noFill/>
        </p:spPr>
        <p:txBody>
          <a:bodyPr wrap="square">
            <a:spAutoFit/>
          </a:bodyPr>
          <a:lstStyle/>
          <a:p>
            <a:pPr algn="l"/>
            <a:r>
              <a:rPr b="0" i="0" sz="1800">
                <a:solidFill>
                  <a:srgbClr val="00A8E0"/>
                </a:solidFill>
                <a:latin typeface="Noto Sans JP"/>
              </a:rPr>
              <a:t>視床前核DBS（ANT-DBS）と迷走神経刺激療法（VNS）の有効性比較</a:t>
            </a:r>
          </a:p>
        </p:txBody>
      </p:sp>
      <p:sp>
        <p:nvSpPr>
          <p:cNvPr id="7" name="TextBox 6"/>
          <p:cNvSpPr txBox="1"/>
          <p:nvPr/>
        </p:nvSpPr>
        <p:spPr>
          <a:xfrm>
            <a:off x="640080" y="4160520"/>
            <a:ext cx="8229600" cy="365760"/>
          </a:xfrm>
          <a:prstGeom prst="rect">
            <a:avLst/>
          </a:prstGeom>
          <a:noFill/>
        </p:spPr>
        <p:txBody>
          <a:bodyPr wrap="square">
            <a:spAutoFit/>
          </a:bodyPr>
          <a:lstStyle/>
          <a:p>
            <a:pPr algn="l"/>
            <a:r>
              <a:rPr b="0" i="1" sz="1100">
                <a:solidFill>
                  <a:srgbClr val="CCCCCC"/>
                </a:solidFill>
                <a:latin typeface="Noto Sans JP"/>
              </a:rPr>
              <a:t>Zhu J, et al. Journal of Clinical Neuroscience 90 (2021) 112–117</a:t>
            </a:r>
          </a:p>
        </p:txBody>
      </p:sp>
      <p:sp>
        <p:nvSpPr>
          <p:cNvPr id="8" name="TextBox 7"/>
          <p:cNvSpPr txBox="1"/>
          <p:nvPr/>
        </p:nvSpPr>
        <p:spPr>
          <a:xfrm>
            <a:off x="640080" y="6126480"/>
            <a:ext cx="5486400" cy="365760"/>
          </a:xfrm>
          <a:prstGeom prst="rect">
            <a:avLst/>
          </a:prstGeom>
          <a:noFill/>
        </p:spPr>
        <p:txBody>
          <a:bodyPr wrap="square">
            <a:spAutoFit/>
          </a:bodyPr>
          <a:lstStyle/>
          <a:p>
            <a:pPr algn="l"/>
            <a:r>
              <a:rPr b="0" i="1" sz="1300">
                <a:solidFill>
                  <a:srgbClr val="AACCFF"/>
                </a:solidFill>
                <a:latin typeface="Noto Sans JP"/>
              </a:rPr>
              <a:t>Engineering the extraordinary</a:t>
            </a:r>
          </a:p>
        </p:txBody>
      </p:sp>
      <p:sp>
        <p:nvSpPr>
          <p:cNvPr id="9" name="TextBox 8"/>
          <p:cNvSpPr txBox="1"/>
          <p:nvPr/>
        </p:nvSpPr>
        <p:spPr>
          <a:xfrm>
            <a:off x="9601200" y="6126480"/>
            <a:ext cx="2286000" cy="365760"/>
          </a:xfrm>
          <a:prstGeom prst="rect">
            <a:avLst/>
          </a:prstGeom>
          <a:noFill/>
        </p:spPr>
        <p:txBody>
          <a:bodyPr wrap="square">
            <a:spAutoFit/>
          </a:bodyPr>
          <a:lstStyle/>
          <a:p>
            <a:pPr algn="r"/>
            <a:r>
              <a:rPr b="1" i="0" sz="2000">
                <a:solidFill>
                  <a:srgbClr val="FFFFFF"/>
                </a:solidFill>
                <a:latin typeface="Noto Sans JP"/>
              </a:rPr>
              <a:t>Medtronic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777240"/>
          </a:xfrm>
          <a:prstGeom prst="rect">
            <a:avLst/>
          </a:prstGeom>
          <a:noFill/>
        </p:spPr>
        <p:txBody>
          <a:bodyPr wrap="square">
            <a:spAutoFit/>
          </a:bodyPr>
          <a:lstStyle/>
          <a:p>
            <a:pPr algn="l"/>
            <a:r>
              <a:rPr b="1" i="0" sz="2400">
                <a:solidFill>
                  <a:srgbClr val="FFFFFF"/>
                </a:solidFill>
                <a:latin typeface="Noto Sans JP"/>
              </a:rPr>
              <a:t>疾患背景：今もコントロールできていない患者がいる</a:t>
            </a:r>
          </a:p>
        </p:txBody>
      </p:sp>
      <p:sp>
        <p:nvSpPr>
          <p:cNvPr id="4" name="Rectangle 3"/>
          <p:cNvSpPr/>
          <p:nvPr/>
        </p:nvSpPr>
        <p:spPr>
          <a:xfrm>
            <a:off x="0" y="1005840"/>
            <a:ext cx="12188952" cy="64008"/>
          </a:xfrm>
          <a:prstGeom prst="rect">
            <a:avLst/>
          </a:prstGeom>
          <a:solidFill>
            <a:srgbClr val="00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88952" cy="36576"/>
          </a:xfrm>
          <a:prstGeom prst="rect">
            <a:avLst/>
          </a:prstGeom>
          <a:solidFill>
            <a:srgbClr val="00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83680"/>
            <a:ext cx="10972800" cy="228600"/>
          </a:xfrm>
          <a:prstGeom prst="rect">
            <a:avLst/>
          </a:prstGeom>
          <a:noFill/>
        </p:spPr>
        <p:txBody>
          <a:bodyPr wrap="square">
            <a:spAutoFit/>
          </a:bodyPr>
          <a:lstStyle/>
          <a:p>
            <a:pPr algn="l"/>
            <a:r>
              <a:rPr b="0" i="0" sz="700">
                <a:solidFill>
                  <a:srgbClr val="888888"/>
                </a:solidFill>
                <a:latin typeface="Noto Sans JP"/>
              </a:rPr>
              <a:t>Zhu J, et al. J Clin Neurosci. 2021;90:112–117  |  本資材は医療従事者向けの情報提供を目的として作成されています</a:t>
            </a:r>
          </a:p>
        </p:txBody>
      </p:sp>
      <p:sp>
        <p:nvSpPr>
          <p:cNvPr id="7" name="TextBox 6"/>
          <p:cNvSpPr txBox="1"/>
          <p:nvPr/>
        </p:nvSpPr>
        <p:spPr>
          <a:xfrm>
            <a:off x="11247120" y="6492240"/>
            <a:ext cx="914400" cy="320040"/>
          </a:xfrm>
          <a:prstGeom prst="rect">
            <a:avLst/>
          </a:prstGeom>
          <a:noFill/>
        </p:spPr>
        <p:txBody>
          <a:bodyPr wrap="square">
            <a:spAutoFit/>
          </a:bodyPr>
          <a:lstStyle/>
          <a:p>
            <a:pPr algn="r"/>
            <a:r>
              <a:rPr b="0" i="0" sz="900">
                <a:solidFill>
                  <a:srgbClr val="AAAAAA"/>
                </a:solidFill>
                <a:latin typeface="Noto Sans JP"/>
              </a:rPr>
              <a:t>2 / 8</a:t>
            </a:r>
          </a:p>
        </p:txBody>
      </p:sp>
      <p:sp>
        <p:nvSpPr>
          <p:cNvPr id="8" name="Rectangle 7"/>
          <p:cNvSpPr/>
          <p:nvPr/>
        </p:nvSpPr>
        <p:spPr>
          <a:xfrm>
            <a:off x="365760" y="1234440"/>
            <a:ext cx="3474720" cy="2286000"/>
          </a:xfrm>
          <a:prstGeom prst="rect">
            <a:avLst/>
          </a:prstGeom>
          <a:solidFill>
            <a:srgbClr val="00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371600"/>
            <a:ext cx="3474720" cy="1188720"/>
          </a:xfrm>
          <a:prstGeom prst="rect">
            <a:avLst/>
          </a:prstGeom>
          <a:noFill/>
        </p:spPr>
        <p:txBody>
          <a:bodyPr wrap="square">
            <a:spAutoFit/>
          </a:bodyPr>
          <a:lstStyle/>
          <a:p>
            <a:pPr algn="ctr"/>
            <a:r>
              <a:rPr b="1" i="0" sz="5200">
                <a:solidFill>
                  <a:srgbClr val="FFFFFF"/>
                </a:solidFill>
                <a:latin typeface="Noto Sans JP"/>
              </a:rPr>
              <a:t>約 30%</a:t>
            </a:r>
          </a:p>
        </p:txBody>
      </p:sp>
      <p:sp>
        <p:nvSpPr>
          <p:cNvPr id="10" name="TextBox 9"/>
          <p:cNvSpPr txBox="1"/>
          <p:nvPr/>
        </p:nvSpPr>
        <p:spPr>
          <a:xfrm>
            <a:off x="365760" y="2468880"/>
            <a:ext cx="3474720" cy="822960"/>
          </a:xfrm>
          <a:prstGeom prst="rect">
            <a:avLst/>
          </a:prstGeom>
          <a:noFill/>
        </p:spPr>
        <p:txBody>
          <a:bodyPr wrap="square">
            <a:spAutoFit/>
          </a:bodyPr>
          <a:lstStyle/>
          <a:p>
            <a:pPr algn="ctr"/>
            <a:r>
              <a:rPr b="0" i="0" sz="1300">
                <a:solidFill>
                  <a:srgbClr val="FFFFFF"/>
                </a:solidFill>
                <a:latin typeface="Noto Sans JP"/>
              </a:rPr>
              <a:t>てんかん患者のうち
薬物療法で発作を
コントロールできない</a:t>
            </a:r>
          </a:p>
        </p:txBody>
      </p:sp>
      <p:sp>
        <p:nvSpPr>
          <p:cNvPr id="11" name="TextBox 10"/>
          <p:cNvSpPr txBox="1"/>
          <p:nvPr/>
        </p:nvSpPr>
        <p:spPr>
          <a:xfrm>
            <a:off x="4114800" y="1280160"/>
            <a:ext cx="7680960" cy="1920240"/>
          </a:xfrm>
          <a:prstGeom prst="rect">
            <a:avLst/>
          </a:prstGeom>
          <a:noFill/>
        </p:spPr>
        <p:txBody>
          <a:bodyPr wrap="square">
            <a:spAutoFit/>
          </a:bodyPr>
          <a:lstStyle/>
          <a:p>
            <a:pPr algn="l"/>
            <a:r>
              <a:rPr b="0" i="0" sz="1500">
                <a:solidFill>
                  <a:srgbClr val="003087"/>
                </a:solidFill>
                <a:latin typeface="Noto Sans JP"/>
              </a:rPr>
              <a:t>世界に約 7,000万人 のてんかん患者が存在し、そのうち約 3割 が
薬剤抵抗性てんかん（DRE：Drug-resistant epilepsy）に分類されます。
2剤以上の抗てんかん薬（AED）で適切に治療しても発作が持続し、
切除術の適応外または術後も発作が続くケースも少なくありません。</a:t>
            </a:r>
          </a:p>
        </p:txBody>
      </p:sp>
      <p:sp>
        <p:nvSpPr>
          <p:cNvPr id="12" name="Rectangle 11"/>
          <p:cNvSpPr/>
          <p:nvPr/>
        </p:nvSpPr>
        <p:spPr>
          <a:xfrm>
            <a:off x="365760" y="3703320"/>
            <a:ext cx="11338560" cy="54864"/>
          </a:xfrm>
          <a:prstGeom prst="rect">
            <a:avLst/>
          </a:prstGeom>
          <a:solidFill>
            <a:srgbClr val="00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3840480"/>
            <a:ext cx="11338560" cy="457200"/>
          </a:xfrm>
          <a:prstGeom prst="rect">
            <a:avLst/>
          </a:prstGeom>
          <a:noFill/>
        </p:spPr>
        <p:txBody>
          <a:bodyPr wrap="square">
            <a:spAutoFit/>
          </a:bodyPr>
          <a:lstStyle/>
          <a:p>
            <a:pPr algn="l"/>
            <a:r>
              <a:rPr b="1" i="0" sz="1700">
                <a:solidFill>
                  <a:srgbClr val="003087"/>
                </a:solidFill>
                <a:latin typeface="Noto Sans JP"/>
              </a:rPr>
              <a:t>神経刺激療法は、薬物療法・切除術に次ぐ有力な選択肢です</a:t>
            </a:r>
          </a:p>
        </p:txBody>
      </p:sp>
      <p:sp>
        <p:nvSpPr>
          <p:cNvPr id="14" name="Rectangle 13"/>
          <p:cNvSpPr/>
          <p:nvPr/>
        </p:nvSpPr>
        <p:spPr>
          <a:xfrm>
            <a:off x="365760" y="4434840"/>
            <a:ext cx="5303520" cy="1554480"/>
          </a:xfrm>
          <a:prstGeom prst="rect">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526280"/>
            <a:ext cx="4937760" cy="365760"/>
          </a:xfrm>
          <a:prstGeom prst="rect">
            <a:avLst/>
          </a:prstGeom>
          <a:noFill/>
        </p:spPr>
        <p:txBody>
          <a:bodyPr wrap="square">
            <a:spAutoFit/>
          </a:bodyPr>
          <a:lstStyle/>
          <a:p>
            <a:pPr algn="l"/>
            <a:r>
              <a:rPr b="1" i="0" sz="1400">
                <a:solidFill>
                  <a:srgbClr val="003087"/>
                </a:solidFill>
                <a:latin typeface="Noto Sans JP"/>
              </a:rPr>
              <a:t>VNS（迷走神経刺激療法）</a:t>
            </a:r>
          </a:p>
        </p:txBody>
      </p:sp>
      <p:sp>
        <p:nvSpPr>
          <p:cNvPr id="16" name="TextBox 15"/>
          <p:cNvSpPr txBox="1"/>
          <p:nvPr/>
        </p:nvSpPr>
        <p:spPr>
          <a:xfrm>
            <a:off x="548640" y="4892040"/>
            <a:ext cx="4937760" cy="777240"/>
          </a:xfrm>
          <a:prstGeom prst="rect">
            <a:avLst/>
          </a:prstGeom>
          <a:noFill/>
        </p:spPr>
        <p:txBody>
          <a:bodyPr wrap="square">
            <a:spAutoFit/>
          </a:bodyPr>
          <a:lstStyle/>
          <a:p>
            <a:pPr algn="l"/>
            <a:r>
              <a:rPr b="0" i="0" sz="1300">
                <a:solidFill>
                  <a:srgbClr val="003087"/>
                </a:solidFill>
                <a:latin typeface="Noto Sans JP"/>
              </a:rPr>
              <a:t>FDA承認：1997年（4歳以上）
慢性かつ広く普及した選択肢</a:t>
            </a:r>
          </a:p>
        </p:txBody>
      </p:sp>
      <p:sp>
        <p:nvSpPr>
          <p:cNvPr id="17" name="Rectangle 16"/>
          <p:cNvSpPr/>
          <p:nvPr/>
        </p:nvSpPr>
        <p:spPr>
          <a:xfrm>
            <a:off x="5943600" y="4434840"/>
            <a:ext cx="5760720" cy="15544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4526280"/>
            <a:ext cx="5394960" cy="365760"/>
          </a:xfrm>
          <a:prstGeom prst="rect">
            <a:avLst/>
          </a:prstGeom>
          <a:noFill/>
        </p:spPr>
        <p:txBody>
          <a:bodyPr wrap="square">
            <a:spAutoFit/>
          </a:bodyPr>
          <a:lstStyle/>
          <a:p>
            <a:pPr algn="l"/>
            <a:r>
              <a:rPr b="1" i="0" sz="1400">
                <a:solidFill>
                  <a:srgbClr val="00A8E0"/>
                </a:solidFill>
                <a:latin typeface="Noto Sans JP"/>
              </a:rPr>
              <a:t>ANT-DBS（視床前核深部脳刺激療法）</a:t>
            </a:r>
          </a:p>
        </p:txBody>
      </p:sp>
      <p:sp>
        <p:nvSpPr>
          <p:cNvPr id="19" name="TextBox 18"/>
          <p:cNvSpPr txBox="1"/>
          <p:nvPr/>
        </p:nvSpPr>
        <p:spPr>
          <a:xfrm>
            <a:off x="6126480" y="4892040"/>
            <a:ext cx="5394960" cy="777240"/>
          </a:xfrm>
          <a:prstGeom prst="rect">
            <a:avLst/>
          </a:prstGeom>
          <a:noFill/>
        </p:spPr>
        <p:txBody>
          <a:bodyPr wrap="square">
            <a:spAutoFit/>
          </a:bodyPr>
          <a:lstStyle/>
          <a:p>
            <a:pPr algn="l"/>
            <a:r>
              <a:rPr b="0" i="0" sz="1300">
                <a:solidFill>
                  <a:srgbClr val="FFFFFF"/>
                </a:solidFill>
                <a:latin typeface="Noto Sans JP"/>
              </a:rPr>
              <a:t>FDA承認：2018年（18歳以上）
より標的化された新しい選択肢</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777240"/>
          </a:xfrm>
          <a:prstGeom prst="rect">
            <a:avLst/>
          </a:prstGeom>
          <a:noFill/>
        </p:spPr>
        <p:txBody>
          <a:bodyPr wrap="square">
            <a:spAutoFit/>
          </a:bodyPr>
          <a:lstStyle/>
          <a:p>
            <a:pPr algn="l"/>
            <a:r>
              <a:rPr b="1" i="0" sz="2400">
                <a:solidFill>
                  <a:srgbClr val="FFFFFF"/>
                </a:solidFill>
                <a:latin typeface="Noto Sans JP"/>
              </a:rPr>
              <a:t>試験概要：同一施設・同一基準による厳格な比較</a:t>
            </a:r>
          </a:p>
        </p:txBody>
      </p:sp>
      <p:sp>
        <p:nvSpPr>
          <p:cNvPr id="4" name="Rectangle 3"/>
          <p:cNvSpPr/>
          <p:nvPr/>
        </p:nvSpPr>
        <p:spPr>
          <a:xfrm>
            <a:off x="0" y="1005840"/>
            <a:ext cx="12188952" cy="64008"/>
          </a:xfrm>
          <a:prstGeom prst="rect">
            <a:avLst/>
          </a:prstGeom>
          <a:solidFill>
            <a:srgbClr val="00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88952" cy="36576"/>
          </a:xfrm>
          <a:prstGeom prst="rect">
            <a:avLst/>
          </a:prstGeom>
          <a:solidFill>
            <a:srgbClr val="00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83680"/>
            <a:ext cx="10972800" cy="228600"/>
          </a:xfrm>
          <a:prstGeom prst="rect">
            <a:avLst/>
          </a:prstGeom>
          <a:noFill/>
        </p:spPr>
        <p:txBody>
          <a:bodyPr wrap="square">
            <a:spAutoFit/>
          </a:bodyPr>
          <a:lstStyle/>
          <a:p>
            <a:pPr algn="l"/>
            <a:r>
              <a:rPr b="0" i="0" sz="700">
                <a:solidFill>
                  <a:srgbClr val="888888"/>
                </a:solidFill>
                <a:latin typeface="Noto Sans JP"/>
              </a:rPr>
              <a:t>Zhu J, et al. J Clin Neurosci. 2021;90:112–117  |  本資材は医療従事者向けの情報提供を目的として作成されています</a:t>
            </a:r>
          </a:p>
        </p:txBody>
      </p:sp>
      <p:sp>
        <p:nvSpPr>
          <p:cNvPr id="7" name="TextBox 6"/>
          <p:cNvSpPr txBox="1"/>
          <p:nvPr/>
        </p:nvSpPr>
        <p:spPr>
          <a:xfrm>
            <a:off x="11247120" y="6492240"/>
            <a:ext cx="914400" cy="320040"/>
          </a:xfrm>
          <a:prstGeom prst="rect">
            <a:avLst/>
          </a:prstGeom>
          <a:noFill/>
        </p:spPr>
        <p:txBody>
          <a:bodyPr wrap="square">
            <a:spAutoFit/>
          </a:bodyPr>
          <a:lstStyle/>
          <a:p>
            <a:pPr algn="r"/>
            <a:r>
              <a:rPr b="0" i="0" sz="900">
                <a:solidFill>
                  <a:srgbClr val="AAAAAA"/>
                </a:solidFill>
                <a:latin typeface="Noto Sans JP"/>
              </a:rPr>
              <a:t>3 / 8</a:t>
            </a:r>
          </a:p>
        </p:txBody>
      </p:sp>
      <p:sp>
        <p:nvSpPr>
          <p:cNvPr id="8" name="Rectangle 7"/>
          <p:cNvSpPr/>
          <p:nvPr/>
        </p:nvSpPr>
        <p:spPr>
          <a:xfrm>
            <a:off x="365760" y="1234440"/>
            <a:ext cx="2560320" cy="5486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307592"/>
            <a:ext cx="2560320" cy="457200"/>
          </a:xfrm>
          <a:prstGeom prst="rect">
            <a:avLst/>
          </a:prstGeom>
          <a:noFill/>
        </p:spPr>
        <p:txBody>
          <a:bodyPr wrap="square">
            <a:spAutoFit/>
          </a:bodyPr>
          <a:lstStyle/>
          <a:p>
            <a:pPr algn="ctr"/>
            <a:r>
              <a:rPr b="1" i="0" sz="1300">
                <a:solidFill>
                  <a:srgbClr val="FFFFFF"/>
                </a:solidFill>
                <a:latin typeface="Noto Sans JP"/>
              </a:rPr>
              <a:t>試験デザイン</a:t>
            </a:r>
          </a:p>
        </p:txBody>
      </p:sp>
      <p:sp>
        <p:nvSpPr>
          <p:cNvPr id="10" name="Rectangle 9"/>
          <p:cNvSpPr/>
          <p:nvPr/>
        </p:nvSpPr>
        <p:spPr>
          <a:xfrm>
            <a:off x="2971800" y="1234440"/>
            <a:ext cx="8686800" cy="548640"/>
          </a:xfrm>
          <a:prstGeom prst="rect">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63240" y="1307592"/>
            <a:ext cx="8503920" cy="457200"/>
          </a:xfrm>
          <a:prstGeom prst="rect">
            <a:avLst/>
          </a:prstGeom>
          <a:noFill/>
        </p:spPr>
        <p:txBody>
          <a:bodyPr wrap="square">
            <a:spAutoFit/>
          </a:bodyPr>
          <a:lstStyle/>
          <a:p>
            <a:pPr algn="l"/>
            <a:r>
              <a:rPr b="0" i="0" sz="1300">
                <a:solidFill>
                  <a:srgbClr val="003087"/>
                </a:solidFill>
                <a:latin typeface="Noto Sans JP"/>
              </a:rPr>
              <a:t>後ろ向き観察研究・単施設</a:t>
            </a:r>
          </a:p>
        </p:txBody>
      </p:sp>
      <p:sp>
        <p:nvSpPr>
          <p:cNvPr id="12" name="Rectangle 11"/>
          <p:cNvSpPr/>
          <p:nvPr/>
        </p:nvSpPr>
        <p:spPr>
          <a:xfrm>
            <a:off x="365760" y="1892808"/>
            <a:ext cx="2560320" cy="5486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1965960"/>
            <a:ext cx="2560320" cy="457200"/>
          </a:xfrm>
          <a:prstGeom prst="rect">
            <a:avLst/>
          </a:prstGeom>
          <a:noFill/>
        </p:spPr>
        <p:txBody>
          <a:bodyPr wrap="square">
            <a:spAutoFit/>
          </a:bodyPr>
          <a:lstStyle/>
          <a:p>
            <a:pPr algn="ctr"/>
            <a:r>
              <a:rPr b="1" i="0" sz="1300">
                <a:solidFill>
                  <a:srgbClr val="FFFFFF"/>
                </a:solidFill>
                <a:latin typeface="Noto Sans JP"/>
              </a:rPr>
              <a:t>施設</a:t>
            </a:r>
          </a:p>
        </p:txBody>
      </p:sp>
      <p:sp>
        <p:nvSpPr>
          <p:cNvPr id="14" name="Rectangle 13"/>
          <p:cNvSpPr/>
          <p:nvPr/>
        </p:nvSpPr>
        <p:spPr>
          <a:xfrm>
            <a:off x="2971800" y="1892808"/>
            <a:ext cx="8686800" cy="548640"/>
          </a:xfrm>
          <a:prstGeom prst="rect">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63240" y="1965960"/>
            <a:ext cx="8503920" cy="457200"/>
          </a:xfrm>
          <a:prstGeom prst="rect">
            <a:avLst/>
          </a:prstGeom>
          <a:noFill/>
        </p:spPr>
        <p:txBody>
          <a:bodyPr wrap="square">
            <a:spAutoFit/>
          </a:bodyPr>
          <a:lstStyle/>
          <a:p>
            <a:pPr algn="l"/>
            <a:r>
              <a:rPr b="0" i="0" sz="1300">
                <a:solidFill>
                  <a:srgbClr val="003087"/>
                </a:solidFill>
                <a:latin typeface="Noto Sans JP"/>
              </a:rPr>
              <a:t>宣武医院（北京首都医科大学 神経外科・機能神経外科センター）</a:t>
            </a:r>
          </a:p>
        </p:txBody>
      </p:sp>
      <p:sp>
        <p:nvSpPr>
          <p:cNvPr id="16" name="Rectangle 15"/>
          <p:cNvSpPr/>
          <p:nvPr/>
        </p:nvSpPr>
        <p:spPr>
          <a:xfrm>
            <a:off x="365760" y="2551176"/>
            <a:ext cx="2560320" cy="5486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2624328"/>
            <a:ext cx="2560320" cy="457200"/>
          </a:xfrm>
          <a:prstGeom prst="rect">
            <a:avLst/>
          </a:prstGeom>
          <a:noFill/>
        </p:spPr>
        <p:txBody>
          <a:bodyPr wrap="square">
            <a:spAutoFit/>
          </a:bodyPr>
          <a:lstStyle/>
          <a:p>
            <a:pPr algn="ctr"/>
            <a:r>
              <a:rPr b="1" i="0" sz="1300">
                <a:solidFill>
                  <a:srgbClr val="FFFFFF"/>
                </a:solidFill>
                <a:latin typeface="Noto Sans JP"/>
              </a:rPr>
              <a:t>登録期間</a:t>
            </a:r>
          </a:p>
        </p:txBody>
      </p:sp>
      <p:sp>
        <p:nvSpPr>
          <p:cNvPr id="18" name="Rectangle 17"/>
          <p:cNvSpPr/>
          <p:nvPr/>
        </p:nvSpPr>
        <p:spPr>
          <a:xfrm>
            <a:off x="2971800" y="2551176"/>
            <a:ext cx="8686800" cy="548640"/>
          </a:xfrm>
          <a:prstGeom prst="rect">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63240" y="2624328"/>
            <a:ext cx="8503920" cy="457200"/>
          </a:xfrm>
          <a:prstGeom prst="rect">
            <a:avLst/>
          </a:prstGeom>
          <a:noFill/>
        </p:spPr>
        <p:txBody>
          <a:bodyPr wrap="square">
            <a:spAutoFit/>
          </a:bodyPr>
          <a:lstStyle/>
          <a:p>
            <a:pPr algn="l"/>
            <a:r>
              <a:rPr b="0" i="0" sz="1300">
                <a:solidFill>
                  <a:srgbClr val="003087"/>
                </a:solidFill>
                <a:latin typeface="Noto Sans JP"/>
              </a:rPr>
              <a:t>2013年6月〜2018年7月</a:t>
            </a:r>
          </a:p>
        </p:txBody>
      </p:sp>
      <p:sp>
        <p:nvSpPr>
          <p:cNvPr id="20" name="Rectangle 19"/>
          <p:cNvSpPr/>
          <p:nvPr/>
        </p:nvSpPr>
        <p:spPr>
          <a:xfrm>
            <a:off x="365760" y="3209544"/>
            <a:ext cx="2560320" cy="5486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3282696"/>
            <a:ext cx="2560320" cy="457200"/>
          </a:xfrm>
          <a:prstGeom prst="rect">
            <a:avLst/>
          </a:prstGeom>
          <a:noFill/>
        </p:spPr>
        <p:txBody>
          <a:bodyPr wrap="square">
            <a:spAutoFit/>
          </a:bodyPr>
          <a:lstStyle/>
          <a:p>
            <a:pPr algn="ctr"/>
            <a:r>
              <a:rPr b="1" i="0" sz="1300">
                <a:solidFill>
                  <a:srgbClr val="FFFFFF"/>
                </a:solidFill>
                <a:latin typeface="Noto Sans JP"/>
              </a:rPr>
              <a:t>観察期間</a:t>
            </a:r>
          </a:p>
        </p:txBody>
      </p:sp>
      <p:sp>
        <p:nvSpPr>
          <p:cNvPr id="22" name="Rectangle 21"/>
          <p:cNvSpPr/>
          <p:nvPr/>
        </p:nvSpPr>
        <p:spPr>
          <a:xfrm>
            <a:off x="2971800" y="3209544"/>
            <a:ext cx="8686800" cy="548640"/>
          </a:xfrm>
          <a:prstGeom prst="rect">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63240" y="3282696"/>
            <a:ext cx="8503920" cy="457200"/>
          </a:xfrm>
          <a:prstGeom prst="rect">
            <a:avLst/>
          </a:prstGeom>
          <a:noFill/>
        </p:spPr>
        <p:txBody>
          <a:bodyPr wrap="square">
            <a:spAutoFit/>
          </a:bodyPr>
          <a:lstStyle/>
          <a:p>
            <a:pPr algn="l"/>
            <a:r>
              <a:rPr b="0" i="0" sz="1300">
                <a:solidFill>
                  <a:srgbClr val="003087"/>
                </a:solidFill>
                <a:latin typeface="Noto Sans JP"/>
              </a:rPr>
              <a:t>術前ベースライン〜術後 12ヵ月</a:t>
            </a:r>
          </a:p>
        </p:txBody>
      </p:sp>
      <p:sp>
        <p:nvSpPr>
          <p:cNvPr id="24" name="Rectangle 23"/>
          <p:cNvSpPr/>
          <p:nvPr/>
        </p:nvSpPr>
        <p:spPr>
          <a:xfrm>
            <a:off x="365760" y="3867912"/>
            <a:ext cx="2560320" cy="5486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3941064"/>
            <a:ext cx="2560320" cy="457200"/>
          </a:xfrm>
          <a:prstGeom prst="rect">
            <a:avLst/>
          </a:prstGeom>
          <a:noFill/>
        </p:spPr>
        <p:txBody>
          <a:bodyPr wrap="square">
            <a:spAutoFit/>
          </a:bodyPr>
          <a:lstStyle/>
          <a:p>
            <a:pPr algn="ctr"/>
            <a:r>
              <a:rPr b="1" i="0" sz="1300">
                <a:solidFill>
                  <a:srgbClr val="FFFFFF"/>
                </a:solidFill>
                <a:latin typeface="Noto Sans JP"/>
              </a:rPr>
              <a:t>評価間隔</a:t>
            </a:r>
          </a:p>
        </p:txBody>
      </p:sp>
      <p:sp>
        <p:nvSpPr>
          <p:cNvPr id="26" name="Rectangle 25"/>
          <p:cNvSpPr/>
          <p:nvPr/>
        </p:nvSpPr>
        <p:spPr>
          <a:xfrm>
            <a:off x="2971800" y="3867912"/>
            <a:ext cx="8686800" cy="548640"/>
          </a:xfrm>
          <a:prstGeom prst="rect">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63240" y="3941064"/>
            <a:ext cx="8503920" cy="457200"/>
          </a:xfrm>
          <a:prstGeom prst="rect">
            <a:avLst/>
          </a:prstGeom>
          <a:noFill/>
        </p:spPr>
        <p:txBody>
          <a:bodyPr wrap="square">
            <a:spAutoFit/>
          </a:bodyPr>
          <a:lstStyle/>
          <a:p>
            <a:pPr algn="l"/>
            <a:r>
              <a:rPr b="0" i="0" sz="1300">
                <a:solidFill>
                  <a:srgbClr val="003087"/>
                </a:solidFill>
                <a:latin typeface="Noto Sans JP"/>
              </a:rPr>
              <a:t>術後 3・6・9・12ヵ月（外来問診）</a:t>
            </a:r>
          </a:p>
        </p:txBody>
      </p:sp>
      <p:sp>
        <p:nvSpPr>
          <p:cNvPr id="28" name="Rectangle 27"/>
          <p:cNvSpPr/>
          <p:nvPr/>
        </p:nvSpPr>
        <p:spPr>
          <a:xfrm>
            <a:off x="365760" y="4572000"/>
            <a:ext cx="5303520" cy="1691640"/>
          </a:xfrm>
          <a:prstGeom prst="rect">
            <a:avLst/>
          </a:prstGeom>
          <a:solidFill>
            <a:srgbClr val="E8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4663440"/>
            <a:ext cx="5120640" cy="365760"/>
          </a:xfrm>
          <a:prstGeom prst="rect">
            <a:avLst/>
          </a:prstGeom>
          <a:noFill/>
        </p:spPr>
        <p:txBody>
          <a:bodyPr wrap="square">
            <a:spAutoFit/>
          </a:bodyPr>
          <a:lstStyle/>
          <a:p>
            <a:pPr algn="l"/>
            <a:r>
              <a:rPr b="1" i="0" sz="1500">
                <a:solidFill>
                  <a:srgbClr val="003087"/>
                </a:solidFill>
                <a:latin typeface="Noto Sans JP"/>
              </a:rPr>
              <a:t>VNS群</a:t>
            </a:r>
          </a:p>
        </p:txBody>
      </p:sp>
      <p:sp>
        <p:nvSpPr>
          <p:cNvPr id="30" name="TextBox 29"/>
          <p:cNvSpPr txBox="1"/>
          <p:nvPr/>
        </p:nvSpPr>
        <p:spPr>
          <a:xfrm>
            <a:off x="457200" y="5029200"/>
            <a:ext cx="5120640" cy="1005840"/>
          </a:xfrm>
          <a:prstGeom prst="rect">
            <a:avLst/>
          </a:prstGeom>
          <a:noFill/>
        </p:spPr>
        <p:txBody>
          <a:bodyPr wrap="square">
            <a:spAutoFit/>
          </a:bodyPr>
          <a:lstStyle/>
          <a:p>
            <a:pPr algn="l"/>
            <a:r>
              <a:rPr b="0" i="0" sz="1300">
                <a:solidFill>
                  <a:srgbClr val="003087"/>
                </a:solidFill>
                <a:latin typeface="Noto Sans JP"/>
              </a:rPr>
              <a:t>17例
平均年齢 20.24 ± 11.40歳（5〜41歳）</a:t>
            </a:r>
          </a:p>
        </p:txBody>
      </p:sp>
      <p:sp>
        <p:nvSpPr>
          <p:cNvPr id="31" name="Rectangle 30"/>
          <p:cNvSpPr/>
          <p:nvPr/>
        </p:nvSpPr>
        <p:spPr>
          <a:xfrm>
            <a:off x="6126480" y="4572000"/>
            <a:ext cx="5669280" cy="16916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0" y="4663440"/>
            <a:ext cx="5486400" cy="365760"/>
          </a:xfrm>
          <a:prstGeom prst="rect">
            <a:avLst/>
          </a:prstGeom>
          <a:noFill/>
        </p:spPr>
        <p:txBody>
          <a:bodyPr wrap="square">
            <a:spAutoFit/>
          </a:bodyPr>
          <a:lstStyle/>
          <a:p>
            <a:pPr algn="l"/>
            <a:r>
              <a:rPr b="1" i="0" sz="1500">
                <a:solidFill>
                  <a:srgbClr val="00A8E0"/>
                </a:solidFill>
                <a:latin typeface="Noto Sans JP"/>
              </a:rPr>
              <a:t>ANT-DBS群</a:t>
            </a:r>
          </a:p>
        </p:txBody>
      </p:sp>
      <p:sp>
        <p:nvSpPr>
          <p:cNvPr id="33" name="TextBox 32"/>
          <p:cNvSpPr txBox="1"/>
          <p:nvPr/>
        </p:nvSpPr>
        <p:spPr>
          <a:xfrm>
            <a:off x="6217920" y="5029200"/>
            <a:ext cx="5486400" cy="1005840"/>
          </a:xfrm>
          <a:prstGeom prst="rect">
            <a:avLst/>
          </a:prstGeom>
          <a:noFill/>
        </p:spPr>
        <p:txBody>
          <a:bodyPr wrap="square">
            <a:spAutoFit/>
          </a:bodyPr>
          <a:lstStyle/>
          <a:p>
            <a:pPr algn="l"/>
            <a:r>
              <a:rPr b="0" i="0" sz="1300">
                <a:solidFill>
                  <a:srgbClr val="FFFFFF"/>
                </a:solidFill>
                <a:latin typeface="Noto Sans JP"/>
              </a:rPr>
              <a:t>18例
平均年齢 28.94 ± 12.00歳（12〜52歳）</a:t>
            </a:r>
          </a:p>
        </p:txBody>
      </p:sp>
      <p:sp>
        <p:nvSpPr>
          <p:cNvPr id="34" name="TextBox 33"/>
          <p:cNvSpPr txBox="1"/>
          <p:nvPr/>
        </p:nvSpPr>
        <p:spPr>
          <a:xfrm>
            <a:off x="365760" y="6355080"/>
            <a:ext cx="11338560" cy="274320"/>
          </a:xfrm>
          <a:prstGeom prst="rect">
            <a:avLst/>
          </a:prstGeom>
          <a:noFill/>
        </p:spPr>
        <p:txBody>
          <a:bodyPr wrap="square">
            <a:spAutoFit/>
          </a:bodyPr>
          <a:lstStyle/>
          <a:p>
            <a:pPr algn="l"/>
            <a:r>
              <a:rPr b="0" i="1" sz="1000">
                <a:solidFill>
                  <a:srgbClr val="555555"/>
                </a:solidFill>
                <a:latin typeface="Noto Sans JP"/>
              </a:rPr>
              <a:t>全例：長時間ビデオ脳波・MRI・PET・MEG による厳格な術前評価で切除術を除外</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777240"/>
          </a:xfrm>
          <a:prstGeom prst="rect">
            <a:avLst/>
          </a:prstGeom>
          <a:noFill/>
        </p:spPr>
        <p:txBody>
          <a:bodyPr wrap="square">
            <a:spAutoFit/>
          </a:bodyPr>
          <a:lstStyle/>
          <a:p>
            <a:pPr algn="l"/>
            <a:r>
              <a:rPr b="1" i="0" sz="2400">
                <a:solidFill>
                  <a:srgbClr val="FFFFFF"/>
                </a:solidFill>
                <a:latin typeface="Noto Sans JP"/>
              </a:rPr>
              <a:t>主要結果：ANT-DBSは全時点でVNSを上回る発作減少率</a:t>
            </a:r>
          </a:p>
        </p:txBody>
      </p:sp>
      <p:sp>
        <p:nvSpPr>
          <p:cNvPr id="4" name="Rectangle 3"/>
          <p:cNvSpPr/>
          <p:nvPr/>
        </p:nvSpPr>
        <p:spPr>
          <a:xfrm>
            <a:off x="0" y="1005840"/>
            <a:ext cx="12188952" cy="64008"/>
          </a:xfrm>
          <a:prstGeom prst="rect">
            <a:avLst/>
          </a:prstGeom>
          <a:solidFill>
            <a:srgbClr val="00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88952" cy="36576"/>
          </a:xfrm>
          <a:prstGeom prst="rect">
            <a:avLst/>
          </a:prstGeom>
          <a:solidFill>
            <a:srgbClr val="00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83680"/>
            <a:ext cx="10972800" cy="228600"/>
          </a:xfrm>
          <a:prstGeom prst="rect">
            <a:avLst/>
          </a:prstGeom>
          <a:noFill/>
        </p:spPr>
        <p:txBody>
          <a:bodyPr wrap="square">
            <a:spAutoFit/>
          </a:bodyPr>
          <a:lstStyle/>
          <a:p>
            <a:pPr algn="l"/>
            <a:r>
              <a:rPr b="0" i="0" sz="700">
                <a:solidFill>
                  <a:srgbClr val="888888"/>
                </a:solidFill>
                <a:latin typeface="Noto Sans JP"/>
              </a:rPr>
              <a:t>Zhu J, et al. J Clin Neurosci. 2021;90:112–117  |  本資材は医療従事者向けの情報提供を目的として作成されています</a:t>
            </a:r>
          </a:p>
        </p:txBody>
      </p:sp>
      <p:sp>
        <p:nvSpPr>
          <p:cNvPr id="7" name="TextBox 6"/>
          <p:cNvSpPr txBox="1"/>
          <p:nvPr/>
        </p:nvSpPr>
        <p:spPr>
          <a:xfrm>
            <a:off x="11247120" y="6492240"/>
            <a:ext cx="914400" cy="320040"/>
          </a:xfrm>
          <a:prstGeom prst="rect">
            <a:avLst/>
          </a:prstGeom>
          <a:noFill/>
        </p:spPr>
        <p:txBody>
          <a:bodyPr wrap="square">
            <a:spAutoFit/>
          </a:bodyPr>
          <a:lstStyle/>
          <a:p>
            <a:pPr algn="r"/>
            <a:r>
              <a:rPr b="0" i="0" sz="900">
                <a:solidFill>
                  <a:srgbClr val="AAAAAA"/>
                </a:solidFill>
                <a:latin typeface="Noto Sans JP"/>
              </a:rPr>
              <a:t>4 / 8</a:t>
            </a:r>
          </a:p>
        </p:txBody>
      </p:sp>
      <p:sp>
        <p:nvSpPr>
          <p:cNvPr id="8" name="Rectangle 7"/>
          <p:cNvSpPr/>
          <p:nvPr/>
        </p:nvSpPr>
        <p:spPr>
          <a:xfrm>
            <a:off x="365760" y="1234440"/>
            <a:ext cx="3200400" cy="23774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371600"/>
            <a:ext cx="3200400" cy="1188720"/>
          </a:xfrm>
          <a:prstGeom prst="rect">
            <a:avLst/>
          </a:prstGeom>
          <a:noFill/>
        </p:spPr>
        <p:txBody>
          <a:bodyPr wrap="square">
            <a:spAutoFit/>
          </a:bodyPr>
          <a:lstStyle/>
          <a:p>
            <a:pPr algn="ctr"/>
            <a:r>
              <a:rPr b="1" i="0" sz="5400">
                <a:solidFill>
                  <a:srgbClr val="00A8E0"/>
                </a:solidFill>
                <a:latin typeface="Noto Sans JP"/>
              </a:rPr>
              <a:t>65.28%</a:t>
            </a:r>
          </a:p>
        </p:txBody>
      </p:sp>
      <p:sp>
        <p:nvSpPr>
          <p:cNvPr id="10" name="TextBox 9"/>
          <p:cNvSpPr txBox="1"/>
          <p:nvPr/>
        </p:nvSpPr>
        <p:spPr>
          <a:xfrm>
            <a:off x="365760" y="2514600"/>
            <a:ext cx="3200400" cy="868680"/>
          </a:xfrm>
          <a:prstGeom prst="rect">
            <a:avLst/>
          </a:prstGeom>
          <a:noFill/>
        </p:spPr>
        <p:txBody>
          <a:bodyPr wrap="square">
            <a:spAutoFit/>
          </a:bodyPr>
          <a:lstStyle/>
          <a:p>
            <a:pPr algn="ctr"/>
            <a:r>
              <a:rPr b="0" i="0" sz="1400">
                <a:solidFill>
                  <a:srgbClr val="FFFFFF"/>
                </a:solidFill>
                <a:latin typeface="Noto Sans JP"/>
              </a:rPr>
              <a:t>ANT-DBS
術後12ヵ月
平均発作減少率</a:t>
            </a:r>
          </a:p>
        </p:txBody>
      </p:sp>
      <p:sp>
        <p:nvSpPr>
          <p:cNvPr id="11" name="Rectangle 10"/>
          <p:cNvSpPr/>
          <p:nvPr/>
        </p:nvSpPr>
        <p:spPr>
          <a:xfrm>
            <a:off x="3931920" y="3326495"/>
            <a:ext cx="1476756" cy="1154064"/>
          </a:xfrm>
          <a:prstGeom prst="rect">
            <a:avLst/>
          </a:prstGeom>
          <a:solidFill>
            <a:srgbClr val="BBCC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31920" y="3052175"/>
            <a:ext cx="1476756" cy="274320"/>
          </a:xfrm>
          <a:prstGeom prst="rect">
            <a:avLst/>
          </a:prstGeom>
          <a:noFill/>
        </p:spPr>
        <p:txBody>
          <a:bodyPr wrap="square">
            <a:spAutoFit/>
          </a:bodyPr>
          <a:lstStyle/>
          <a:p>
            <a:pPr algn="ctr"/>
            <a:r>
              <a:rPr b="0" i="0" sz="1100">
                <a:solidFill>
                  <a:srgbClr val="003087"/>
                </a:solidFill>
                <a:latin typeface="Noto Sans JP"/>
              </a:rPr>
              <a:t>36.06%</a:t>
            </a:r>
          </a:p>
        </p:txBody>
      </p:sp>
      <p:sp>
        <p:nvSpPr>
          <p:cNvPr id="13" name="Rectangle 12"/>
          <p:cNvSpPr/>
          <p:nvPr/>
        </p:nvSpPr>
        <p:spPr>
          <a:xfrm>
            <a:off x="5495544" y="2649291"/>
            <a:ext cx="1476756" cy="1831268"/>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95544" y="2374971"/>
            <a:ext cx="1476756" cy="274320"/>
          </a:xfrm>
          <a:prstGeom prst="rect">
            <a:avLst/>
          </a:prstGeom>
          <a:noFill/>
        </p:spPr>
        <p:txBody>
          <a:bodyPr wrap="square">
            <a:spAutoFit/>
          </a:bodyPr>
          <a:lstStyle/>
          <a:p>
            <a:pPr algn="ctr"/>
            <a:r>
              <a:rPr b="1" i="0" sz="1100">
                <a:solidFill>
                  <a:srgbClr val="003087"/>
                </a:solidFill>
                <a:latin typeface="Noto Sans JP"/>
              </a:rPr>
              <a:t>57.22%</a:t>
            </a:r>
          </a:p>
        </p:txBody>
      </p:sp>
      <p:sp>
        <p:nvSpPr>
          <p:cNvPr id="15" name="TextBox 14"/>
          <p:cNvSpPr txBox="1"/>
          <p:nvPr/>
        </p:nvSpPr>
        <p:spPr>
          <a:xfrm>
            <a:off x="3931920" y="4526280"/>
            <a:ext cx="3127248" cy="411480"/>
          </a:xfrm>
          <a:prstGeom prst="rect">
            <a:avLst/>
          </a:prstGeom>
          <a:noFill/>
        </p:spPr>
        <p:txBody>
          <a:bodyPr wrap="square">
            <a:spAutoFit/>
          </a:bodyPr>
          <a:lstStyle/>
          <a:p>
            <a:pPr algn="ctr"/>
            <a:r>
              <a:rPr b="0" i="0" sz="1100">
                <a:solidFill>
                  <a:srgbClr val="003087"/>
                </a:solidFill>
                <a:latin typeface="Noto Sans JP"/>
              </a:rPr>
              <a:t>術後
3ヵ月</a:t>
            </a:r>
          </a:p>
        </p:txBody>
      </p:sp>
      <p:sp>
        <p:nvSpPr>
          <p:cNvPr id="16" name="Rectangle 15"/>
          <p:cNvSpPr/>
          <p:nvPr/>
        </p:nvSpPr>
        <p:spPr>
          <a:xfrm>
            <a:off x="7818120" y="3202320"/>
            <a:ext cx="1476756" cy="1278239"/>
          </a:xfrm>
          <a:prstGeom prst="rect">
            <a:avLst/>
          </a:prstGeom>
          <a:solidFill>
            <a:srgbClr val="BBCC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18120" y="2928000"/>
            <a:ext cx="1476756" cy="274320"/>
          </a:xfrm>
          <a:prstGeom prst="rect">
            <a:avLst/>
          </a:prstGeom>
          <a:noFill/>
        </p:spPr>
        <p:txBody>
          <a:bodyPr wrap="square">
            <a:spAutoFit/>
          </a:bodyPr>
          <a:lstStyle/>
          <a:p>
            <a:pPr algn="ctr"/>
            <a:r>
              <a:rPr b="0" i="0" sz="1100">
                <a:solidFill>
                  <a:srgbClr val="003087"/>
                </a:solidFill>
                <a:latin typeface="Noto Sans JP"/>
              </a:rPr>
              <a:t>39.94%</a:t>
            </a:r>
          </a:p>
        </p:txBody>
      </p:sp>
      <p:sp>
        <p:nvSpPr>
          <p:cNvPr id="18" name="Rectangle 17"/>
          <p:cNvSpPr/>
          <p:nvPr/>
        </p:nvSpPr>
        <p:spPr>
          <a:xfrm>
            <a:off x="9381744" y="2508793"/>
            <a:ext cx="1476756" cy="1971766"/>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81744" y="2234473"/>
            <a:ext cx="1476756" cy="274320"/>
          </a:xfrm>
          <a:prstGeom prst="rect">
            <a:avLst/>
          </a:prstGeom>
          <a:noFill/>
        </p:spPr>
        <p:txBody>
          <a:bodyPr wrap="square">
            <a:spAutoFit/>
          </a:bodyPr>
          <a:lstStyle/>
          <a:p>
            <a:pPr algn="ctr"/>
            <a:r>
              <a:rPr b="1" i="0" sz="1100">
                <a:solidFill>
                  <a:srgbClr val="003087"/>
                </a:solidFill>
                <a:latin typeface="Noto Sans JP"/>
              </a:rPr>
              <a:t>61.61%</a:t>
            </a:r>
          </a:p>
        </p:txBody>
      </p:sp>
      <p:sp>
        <p:nvSpPr>
          <p:cNvPr id="20" name="TextBox 19"/>
          <p:cNvSpPr txBox="1"/>
          <p:nvPr/>
        </p:nvSpPr>
        <p:spPr>
          <a:xfrm>
            <a:off x="7818120" y="4526280"/>
            <a:ext cx="3127248" cy="411480"/>
          </a:xfrm>
          <a:prstGeom prst="rect">
            <a:avLst/>
          </a:prstGeom>
          <a:noFill/>
        </p:spPr>
        <p:txBody>
          <a:bodyPr wrap="square">
            <a:spAutoFit/>
          </a:bodyPr>
          <a:lstStyle/>
          <a:p>
            <a:pPr algn="ctr"/>
            <a:r>
              <a:rPr b="0" i="0" sz="1100">
                <a:solidFill>
                  <a:srgbClr val="003087"/>
                </a:solidFill>
                <a:latin typeface="Noto Sans JP"/>
              </a:rPr>
              <a:t>術後
6ヵ月</a:t>
            </a:r>
          </a:p>
        </p:txBody>
      </p:sp>
      <p:sp>
        <p:nvSpPr>
          <p:cNvPr id="21" name="Rectangle 20"/>
          <p:cNvSpPr/>
          <p:nvPr/>
        </p:nvSpPr>
        <p:spPr>
          <a:xfrm>
            <a:off x="11704320" y="3032699"/>
            <a:ext cx="1476756" cy="1447860"/>
          </a:xfrm>
          <a:prstGeom prst="rect">
            <a:avLst/>
          </a:prstGeom>
          <a:solidFill>
            <a:srgbClr val="BBCC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704320" y="2758379"/>
            <a:ext cx="1476756" cy="274320"/>
          </a:xfrm>
          <a:prstGeom prst="rect">
            <a:avLst/>
          </a:prstGeom>
          <a:noFill/>
        </p:spPr>
        <p:txBody>
          <a:bodyPr wrap="square">
            <a:spAutoFit/>
          </a:bodyPr>
          <a:lstStyle/>
          <a:p>
            <a:pPr algn="ctr"/>
            <a:r>
              <a:rPr b="0" i="0" sz="1100">
                <a:solidFill>
                  <a:srgbClr val="003087"/>
                </a:solidFill>
                <a:latin typeface="Noto Sans JP"/>
              </a:rPr>
              <a:t>45.24%</a:t>
            </a:r>
          </a:p>
        </p:txBody>
      </p:sp>
      <p:sp>
        <p:nvSpPr>
          <p:cNvPr id="23" name="Rectangle 22"/>
          <p:cNvSpPr/>
          <p:nvPr/>
        </p:nvSpPr>
        <p:spPr>
          <a:xfrm>
            <a:off x="13267944" y="2434224"/>
            <a:ext cx="1476756" cy="2046335"/>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67944" y="2159904"/>
            <a:ext cx="1476756" cy="274320"/>
          </a:xfrm>
          <a:prstGeom prst="rect">
            <a:avLst/>
          </a:prstGeom>
          <a:noFill/>
        </p:spPr>
        <p:txBody>
          <a:bodyPr wrap="square">
            <a:spAutoFit/>
          </a:bodyPr>
          <a:lstStyle/>
          <a:p>
            <a:pPr algn="ctr"/>
            <a:r>
              <a:rPr b="1" i="0" sz="1100">
                <a:solidFill>
                  <a:srgbClr val="003087"/>
                </a:solidFill>
                <a:latin typeface="Noto Sans JP"/>
              </a:rPr>
              <a:t>63.94%</a:t>
            </a:r>
          </a:p>
        </p:txBody>
      </p:sp>
      <p:sp>
        <p:nvSpPr>
          <p:cNvPr id="25" name="TextBox 24"/>
          <p:cNvSpPr txBox="1"/>
          <p:nvPr/>
        </p:nvSpPr>
        <p:spPr>
          <a:xfrm>
            <a:off x="11704320" y="4526280"/>
            <a:ext cx="3127248" cy="411480"/>
          </a:xfrm>
          <a:prstGeom prst="rect">
            <a:avLst/>
          </a:prstGeom>
          <a:noFill/>
        </p:spPr>
        <p:txBody>
          <a:bodyPr wrap="square">
            <a:spAutoFit/>
          </a:bodyPr>
          <a:lstStyle/>
          <a:p>
            <a:pPr algn="ctr"/>
            <a:r>
              <a:rPr b="0" i="0" sz="1100">
                <a:solidFill>
                  <a:srgbClr val="003087"/>
                </a:solidFill>
                <a:latin typeface="Noto Sans JP"/>
              </a:rPr>
              <a:t>術後
9ヵ月</a:t>
            </a:r>
          </a:p>
        </p:txBody>
      </p:sp>
      <p:sp>
        <p:nvSpPr>
          <p:cNvPr id="26" name="Rectangle 25"/>
          <p:cNvSpPr/>
          <p:nvPr/>
        </p:nvSpPr>
        <p:spPr>
          <a:xfrm>
            <a:off x="15590520" y="2933166"/>
            <a:ext cx="1476756" cy="1547393"/>
          </a:xfrm>
          <a:prstGeom prst="rect">
            <a:avLst/>
          </a:prstGeom>
          <a:solidFill>
            <a:srgbClr val="BBCC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590520" y="2658846"/>
            <a:ext cx="1476756" cy="274320"/>
          </a:xfrm>
          <a:prstGeom prst="rect">
            <a:avLst/>
          </a:prstGeom>
          <a:noFill/>
        </p:spPr>
        <p:txBody>
          <a:bodyPr wrap="square">
            <a:spAutoFit/>
          </a:bodyPr>
          <a:lstStyle/>
          <a:p>
            <a:pPr algn="ctr"/>
            <a:r>
              <a:rPr b="0" i="0" sz="1100">
                <a:solidFill>
                  <a:srgbClr val="003087"/>
                </a:solidFill>
                <a:latin typeface="Noto Sans JP"/>
              </a:rPr>
              <a:t>48.35%</a:t>
            </a:r>
          </a:p>
        </p:txBody>
      </p:sp>
      <p:sp>
        <p:nvSpPr>
          <p:cNvPr id="28" name="Rectangle 27"/>
          <p:cNvSpPr/>
          <p:nvPr/>
        </p:nvSpPr>
        <p:spPr>
          <a:xfrm>
            <a:off x="17154144" y="2391338"/>
            <a:ext cx="1476756" cy="2089221"/>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154144" y="2117018"/>
            <a:ext cx="1476756" cy="274320"/>
          </a:xfrm>
          <a:prstGeom prst="rect">
            <a:avLst/>
          </a:prstGeom>
          <a:noFill/>
        </p:spPr>
        <p:txBody>
          <a:bodyPr wrap="square">
            <a:spAutoFit/>
          </a:bodyPr>
          <a:lstStyle/>
          <a:p>
            <a:pPr algn="ctr"/>
            <a:r>
              <a:rPr b="1" i="0" sz="1100">
                <a:solidFill>
                  <a:srgbClr val="003087"/>
                </a:solidFill>
                <a:latin typeface="Noto Sans JP"/>
              </a:rPr>
              <a:t>65.28%</a:t>
            </a:r>
          </a:p>
        </p:txBody>
      </p:sp>
      <p:sp>
        <p:nvSpPr>
          <p:cNvPr id="30" name="TextBox 29"/>
          <p:cNvSpPr txBox="1"/>
          <p:nvPr/>
        </p:nvSpPr>
        <p:spPr>
          <a:xfrm>
            <a:off x="15590520" y="4526280"/>
            <a:ext cx="3127248" cy="411480"/>
          </a:xfrm>
          <a:prstGeom prst="rect">
            <a:avLst/>
          </a:prstGeom>
          <a:noFill/>
        </p:spPr>
        <p:txBody>
          <a:bodyPr wrap="square">
            <a:spAutoFit/>
          </a:bodyPr>
          <a:lstStyle/>
          <a:p>
            <a:pPr algn="ctr"/>
            <a:r>
              <a:rPr b="0" i="0" sz="1100">
                <a:solidFill>
                  <a:srgbClr val="003087"/>
                </a:solidFill>
                <a:latin typeface="Noto Sans JP"/>
              </a:rPr>
              <a:t>術後
12ヵ月</a:t>
            </a:r>
          </a:p>
        </p:txBody>
      </p:sp>
      <p:sp>
        <p:nvSpPr>
          <p:cNvPr id="31" name="Rectangle 30"/>
          <p:cNvSpPr/>
          <p:nvPr/>
        </p:nvSpPr>
        <p:spPr>
          <a:xfrm>
            <a:off x="3931920" y="4709160"/>
            <a:ext cx="320040" cy="228600"/>
          </a:xfrm>
          <a:prstGeom prst="rect">
            <a:avLst/>
          </a:prstGeom>
          <a:solidFill>
            <a:srgbClr val="BBCC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97680" y="4709160"/>
            <a:ext cx="1371600" cy="228600"/>
          </a:xfrm>
          <a:prstGeom prst="rect">
            <a:avLst/>
          </a:prstGeom>
          <a:noFill/>
        </p:spPr>
        <p:txBody>
          <a:bodyPr wrap="square">
            <a:spAutoFit/>
          </a:bodyPr>
          <a:lstStyle/>
          <a:p>
            <a:pPr algn="l"/>
            <a:r>
              <a:rPr b="0" i="0" sz="1200">
                <a:solidFill>
                  <a:srgbClr val="003087"/>
                </a:solidFill>
                <a:latin typeface="Noto Sans JP"/>
              </a:rPr>
              <a:t>VNS</a:t>
            </a:r>
          </a:p>
        </p:txBody>
      </p:sp>
      <p:sp>
        <p:nvSpPr>
          <p:cNvPr id="33" name="Rectangle 32"/>
          <p:cNvSpPr/>
          <p:nvPr/>
        </p:nvSpPr>
        <p:spPr>
          <a:xfrm>
            <a:off x="5669280" y="4709160"/>
            <a:ext cx="320040" cy="2286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35040" y="4709160"/>
            <a:ext cx="1828800" cy="228600"/>
          </a:xfrm>
          <a:prstGeom prst="rect">
            <a:avLst/>
          </a:prstGeom>
          <a:noFill/>
        </p:spPr>
        <p:txBody>
          <a:bodyPr wrap="square">
            <a:spAutoFit/>
          </a:bodyPr>
          <a:lstStyle/>
          <a:p>
            <a:pPr algn="l"/>
            <a:r>
              <a:rPr b="0" i="0" sz="1200">
                <a:solidFill>
                  <a:srgbClr val="003087"/>
                </a:solidFill>
                <a:latin typeface="Noto Sans JP"/>
              </a:rPr>
              <a:t>ANT-DBS</a:t>
            </a:r>
          </a:p>
        </p:txBody>
      </p:sp>
      <p:sp>
        <p:nvSpPr>
          <p:cNvPr id="35" name="Rectangle 34"/>
          <p:cNvSpPr/>
          <p:nvPr/>
        </p:nvSpPr>
        <p:spPr>
          <a:xfrm>
            <a:off x="3931920" y="5074920"/>
            <a:ext cx="7863840" cy="594360"/>
          </a:xfrm>
          <a:prstGeom prst="rect">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23360" y="5138928"/>
            <a:ext cx="7680960" cy="457200"/>
          </a:xfrm>
          <a:prstGeom prst="rect">
            <a:avLst/>
          </a:prstGeom>
          <a:noFill/>
        </p:spPr>
        <p:txBody>
          <a:bodyPr wrap="square">
            <a:spAutoFit/>
          </a:bodyPr>
          <a:lstStyle/>
          <a:p>
            <a:pPr algn="l"/>
            <a:r>
              <a:rPr b="1" i="0" sz="1400">
                <a:solidFill>
                  <a:srgbClr val="003087"/>
                </a:solidFill>
                <a:latin typeface="Noto Sans JP"/>
              </a:rPr>
              <a:t>術後12ヵ月：ANT-DBS（65.28%）は VNS（48.35%）を 約17ポイント 上回る発作減少率を達成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777240"/>
          </a:xfrm>
          <a:prstGeom prst="rect">
            <a:avLst/>
          </a:prstGeom>
          <a:noFill/>
        </p:spPr>
        <p:txBody>
          <a:bodyPr wrap="square">
            <a:spAutoFit/>
          </a:bodyPr>
          <a:lstStyle/>
          <a:p>
            <a:pPr algn="l"/>
            <a:r>
              <a:rPr b="1" i="0" sz="2400">
                <a:solidFill>
                  <a:srgbClr val="FFFFFF"/>
                </a:solidFill>
                <a:latin typeface="Noto Sans JP"/>
              </a:rPr>
              <a:t>レスポンダー率・発作消失率（術後12ヵ月）</a:t>
            </a:r>
          </a:p>
        </p:txBody>
      </p:sp>
      <p:sp>
        <p:nvSpPr>
          <p:cNvPr id="4" name="Rectangle 3"/>
          <p:cNvSpPr/>
          <p:nvPr/>
        </p:nvSpPr>
        <p:spPr>
          <a:xfrm>
            <a:off x="0" y="1005840"/>
            <a:ext cx="12188952" cy="64008"/>
          </a:xfrm>
          <a:prstGeom prst="rect">
            <a:avLst/>
          </a:prstGeom>
          <a:solidFill>
            <a:srgbClr val="00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88952" cy="36576"/>
          </a:xfrm>
          <a:prstGeom prst="rect">
            <a:avLst/>
          </a:prstGeom>
          <a:solidFill>
            <a:srgbClr val="00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83680"/>
            <a:ext cx="10972800" cy="228600"/>
          </a:xfrm>
          <a:prstGeom prst="rect">
            <a:avLst/>
          </a:prstGeom>
          <a:noFill/>
        </p:spPr>
        <p:txBody>
          <a:bodyPr wrap="square">
            <a:spAutoFit/>
          </a:bodyPr>
          <a:lstStyle/>
          <a:p>
            <a:pPr algn="l"/>
            <a:r>
              <a:rPr b="0" i="0" sz="700">
                <a:solidFill>
                  <a:srgbClr val="888888"/>
                </a:solidFill>
                <a:latin typeface="Noto Sans JP"/>
              </a:rPr>
              <a:t>Zhu J, et al. J Clin Neurosci. 2021;90:112–117  |  本資材は医療従事者向けの情報提供を目的として作成されています</a:t>
            </a:r>
          </a:p>
        </p:txBody>
      </p:sp>
      <p:sp>
        <p:nvSpPr>
          <p:cNvPr id="7" name="TextBox 6"/>
          <p:cNvSpPr txBox="1"/>
          <p:nvPr/>
        </p:nvSpPr>
        <p:spPr>
          <a:xfrm>
            <a:off x="11247120" y="6492240"/>
            <a:ext cx="914400" cy="320040"/>
          </a:xfrm>
          <a:prstGeom prst="rect">
            <a:avLst/>
          </a:prstGeom>
          <a:noFill/>
        </p:spPr>
        <p:txBody>
          <a:bodyPr wrap="square">
            <a:spAutoFit/>
          </a:bodyPr>
          <a:lstStyle/>
          <a:p>
            <a:pPr algn="r"/>
            <a:r>
              <a:rPr b="0" i="0" sz="900">
                <a:solidFill>
                  <a:srgbClr val="AAAAAA"/>
                </a:solidFill>
                <a:latin typeface="Noto Sans JP"/>
              </a:rPr>
              <a:t>5 / 8</a:t>
            </a:r>
          </a:p>
        </p:txBody>
      </p:sp>
      <p:sp>
        <p:nvSpPr>
          <p:cNvPr id="8" name="Rectangle 7"/>
          <p:cNvSpPr/>
          <p:nvPr/>
        </p:nvSpPr>
        <p:spPr>
          <a:xfrm>
            <a:off x="365760" y="1371600"/>
            <a:ext cx="3291840" cy="1371600"/>
          </a:xfrm>
          <a:prstGeom prst="rect">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645920"/>
            <a:ext cx="3108960" cy="822960"/>
          </a:xfrm>
          <a:prstGeom prst="rect">
            <a:avLst/>
          </a:prstGeom>
          <a:noFill/>
        </p:spPr>
        <p:txBody>
          <a:bodyPr wrap="square">
            <a:spAutoFit/>
          </a:bodyPr>
          <a:lstStyle/>
          <a:p>
            <a:pPr algn="l"/>
            <a:r>
              <a:rPr b="1" i="0" sz="1400">
                <a:solidFill>
                  <a:srgbClr val="003087"/>
                </a:solidFill>
                <a:latin typeface="Noto Sans JP"/>
              </a:rPr>
              <a:t>レスポンダー率
（発作50%以上減少）</a:t>
            </a:r>
          </a:p>
        </p:txBody>
      </p:sp>
      <p:sp>
        <p:nvSpPr>
          <p:cNvPr id="10" name="Rectangle 9"/>
          <p:cNvSpPr/>
          <p:nvPr/>
        </p:nvSpPr>
        <p:spPr>
          <a:xfrm>
            <a:off x="3840480" y="1371600"/>
            <a:ext cx="3657600" cy="13716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0" y="1417320"/>
            <a:ext cx="3657600" cy="822960"/>
          </a:xfrm>
          <a:prstGeom prst="rect">
            <a:avLst/>
          </a:prstGeom>
          <a:noFill/>
        </p:spPr>
        <p:txBody>
          <a:bodyPr wrap="square">
            <a:spAutoFit/>
          </a:bodyPr>
          <a:lstStyle/>
          <a:p>
            <a:pPr algn="ctr"/>
            <a:r>
              <a:rPr b="1" i="0" sz="3800">
                <a:solidFill>
                  <a:srgbClr val="00A8E0"/>
                </a:solidFill>
                <a:latin typeface="Noto Sans JP"/>
              </a:rPr>
              <a:t>72.22%</a:t>
            </a:r>
          </a:p>
        </p:txBody>
      </p:sp>
      <p:sp>
        <p:nvSpPr>
          <p:cNvPr id="12" name="TextBox 11"/>
          <p:cNvSpPr txBox="1"/>
          <p:nvPr/>
        </p:nvSpPr>
        <p:spPr>
          <a:xfrm>
            <a:off x="3840480" y="2286000"/>
            <a:ext cx="3657600" cy="320040"/>
          </a:xfrm>
          <a:prstGeom prst="rect">
            <a:avLst/>
          </a:prstGeom>
          <a:noFill/>
        </p:spPr>
        <p:txBody>
          <a:bodyPr wrap="square">
            <a:spAutoFit/>
          </a:bodyPr>
          <a:lstStyle/>
          <a:p>
            <a:pPr algn="ctr"/>
            <a:r>
              <a:rPr b="0" i="0" sz="1100">
                <a:solidFill>
                  <a:srgbClr val="FFFFFF"/>
                </a:solidFill>
                <a:latin typeface="Noto Sans JP"/>
              </a:rPr>
              <a:t>ANT-DBS  N=13/18</a:t>
            </a:r>
          </a:p>
        </p:txBody>
      </p:sp>
      <p:sp>
        <p:nvSpPr>
          <p:cNvPr id="13" name="Rectangle 12"/>
          <p:cNvSpPr/>
          <p:nvPr/>
        </p:nvSpPr>
        <p:spPr>
          <a:xfrm>
            <a:off x="7772400" y="1371600"/>
            <a:ext cx="3840480" cy="13716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840480" cy="822960"/>
          </a:xfrm>
          <a:prstGeom prst="rect">
            <a:avLst/>
          </a:prstGeom>
          <a:noFill/>
        </p:spPr>
        <p:txBody>
          <a:bodyPr wrap="square">
            <a:spAutoFit/>
          </a:bodyPr>
          <a:lstStyle/>
          <a:p>
            <a:pPr algn="ctr"/>
            <a:r>
              <a:rPr b="0" i="0" sz="3800">
                <a:solidFill>
                  <a:srgbClr val="003087"/>
                </a:solidFill>
                <a:latin typeface="Noto Sans JP"/>
              </a:rPr>
              <a:t>58.82%</a:t>
            </a:r>
          </a:p>
        </p:txBody>
      </p:sp>
      <p:sp>
        <p:nvSpPr>
          <p:cNvPr id="15" name="TextBox 14"/>
          <p:cNvSpPr txBox="1"/>
          <p:nvPr/>
        </p:nvSpPr>
        <p:spPr>
          <a:xfrm>
            <a:off x="7772400" y="2286000"/>
            <a:ext cx="3840480" cy="320040"/>
          </a:xfrm>
          <a:prstGeom prst="rect">
            <a:avLst/>
          </a:prstGeom>
          <a:noFill/>
        </p:spPr>
        <p:txBody>
          <a:bodyPr wrap="square">
            <a:spAutoFit/>
          </a:bodyPr>
          <a:lstStyle/>
          <a:p>
            <a:pPr algn="ctr"/>
            <a:r>
              <a:rPr b="0" i="0" sz="1100">
                <a:solidFill>
                  <a:srgbClr val="003087"/>
                </a:solidFill>
                <a:latin typeface="Noto Sans JP"/>
              </a:rPr>
              <a:t>VNS  N=10/17</a:t>
            </a:r>
          </a:p>
        </p:txBody>
      </p:sp>
      <p:sp>
        <p:nvSpPr>
          <p:cNvPr id="16" name="Rectangle 15"/>
          <p:cNvSpPr/>
          <p:nvPr/>
        </p:nvSpPr>
        <p:spPr>
          <a:xfrm>
            <a:off x="365760" y="2926080"/>
            <a:ext cx="3291840" cy="1371600"/>
          </a:xfrm>
          <a:prstGeom prst="rect">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200400"/>
            <a:ext cx="3108960" cy="822960"/>
          </a:xfrm>
          <a:prstGeom prst="rect">
            <a:avLst/>
          </a:prstGeom>
          <a:noFill/>
        </p:spPr>
        <p:txBody>
          <a:bodyPr wrap="square">
            <a:spAutoFit/>
          </a:bodyPr>
          <a:lstStyle/>
          <a:p>
            <a:pPr algn="l"/>
            <a:r>
              <a:rPr b="1" i="0" sz="1400">
                <a:solidFill>
                  <a:srgbClr val="003087"/>
                </a:solidFill>
                <a:latin typeface="Noto Sans JP"/>
              </a:rPr>
              <a:t>発作消失率</a:t>
            </a:r>
          </a:p>
        </p:txBody>
      </p:sp>
      <p:sp>
        <p:nvSpPr>
          <p:cNvPr id="18" name="Rectangle 17"/>
          <p:cNvSpPr/>
          <p:nvPr/>
        </p:nvSpPr>
        <p:spPr>
          <a:xfrm>
            <a:off x="3840480" y="2926080"/>
            <a:ext cx="3657600" cy="13716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80" y="2971800"/>
            <a:ext cx="3657600" cy="822960"/>
          </a:xfrm>
          <a:prstGeom prst="rect">
            <a:avLst/>
          </a:prstGeom>
          <a:noFill/>
        </p:spPr>
        <p:txBody>
          <a:bodyPr wrap="square">
            <a:spAutoFit/>
          </a:bodyPr>
          <a:lstStyle/>
          <a:p>
            <a:pPr algn="ctr"/>
            <a:r>
              <a:rPr b="1" i="0" sz="3800">
                <a:solidFill>
                  <a:srgbClr val="00A8E0"/>
                </a:solidFill>
                <a:latin typeface="Noto Sans JP"/>
              </a:rPr>
              <a:t>22.22%</a:t>
            </a:r>
          </a:p>
        </p:txBody>
      </p:sp>
      <p:sp>
        <p:nvSpPr>
          <p:cNvPr id="20" name="TextBox 19"/>
          <p:cNvSpPr txBox="1"/>
          <p:nvPr/>
        </p:nvSpPr>
        <p:spPr>
          <a:xfrm>
            <a:off x="3840480" y="3840480"/>
            <a:ext cx="3657600" cy="320040"/>
          </a:xfrm>
          <a:prstGeom prst="rect">
            <a:avLst/>
          </a:prstGeom>
          <a:noFill/>
        </p:spPr>
        <p:txBody>
          <a:bodyPr wrap="square">
            <a:spAutoFit/>
          </a:bodyPr>
          <a:lstStyle/>
          <a:p>
            <a:pPr algn="ctr"/>
            <a:r>
              <a:rPr b="0" i="0" sz="1100">
                <a:solidFill>
                  <a:srgbClr val="FFFFFF"/>
                </a:solidFill>
                <a:latin typeface="Noto Sans JP"/>
              </a:rPr>
              <a:t>ANT-DBS  N=4/18</a:t>
            </a:r>
          </a:p>
        </p:txBody>
      </p:sp>
      <p:sp>
        <p:nvSpPr>
          <p:cNvPr id="21" name="Rectangle 20"/>
          <p:cNvSpPr/>
          <p:nvPr/>
        </p:nvSpPr>
        <p:spPr>
          <a:xfrm>
            <a:off x="7772400" y="2926080"/>
            <a:ext cx="3840480" cy="13716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0" y="2971800"/>
            <a:ext cx="3840480" cy="822960"/>
          </a:xfrm>
          <a:prstGeom prst="rect">
            <a:avLst/>
          </a:prstGeom>
          <a:noFill/>
        </p:spPr>
        <p:txBody>
          <a:bodyPr wrap="square">
            <a:spAutoFit/>
          </a:bodyPr>
          <a:lstStyle/>
          <a:p>
            <a:pPr algn="ctr"/>
            <a:r>
              <a:rPr b="0" i="0" sz="3800">
                <a:solidFill>
                  <a:srgbClr val="003087"/>
                </a:solidFill>
                <a:latin typeface="Noto Sans JP"/>
              </a:rPr>
              <a:t>17.65%</a:t>
            </a:r>
          </a:p>
        </p:txBody>
      </p:sp>
      <p:sp>
        <p:nvSpPr>
          <p:cNvPr id="23" name="TextBox 22"/>
          <p:cNvSpPr txBox="1"/>
          <p:nvPr/>
        </p:nvSpPr>
        <p:spPr>
          <a:xfrm>
            <a:off x="7772400" y="3840480"/>
            <a:ext cx="3840480" cy="320040"/>
          </a:xfrm>
          <a:prstGeom prst="rect">
            <a:avLst/>
          </a:prstGeom>
          <a:noFill/>
        </p:spPr>
        <p:txBody>
          <a:bodyPr wrap="square">
            <a:spAutoFit/>
          </a:bodyPr>
          <a:lstStyle/>
          <a:p>
            <a:pPr algn="ctr"/>
            <a:r>
              <a:rPr b="0" i="0" sz="1100">
                <a:solidFill>
                  <a:srgbClr val="003087"/>
                </a:solidFill>
                <a:latin typeface="Noto Sans JP"/>
              </a:rPr>
              <a:t>VNS  N=3/17</a:t>
            </a:r>
          </a:p>
        </p:txBody>
      </p:sp>
      <p:sp>
        <p:nvSpPr>
          <p:cNvPr id="24" name="Rectangle 23"/>
          <p:cNvSpPr/>
          <p:nvPr/>
        </p:nvSpPr>
        <p:spPr>
          <a:xfrm>
            <a:off x="365760" y="4480560"/>
            <a:ext cx="3291840" cy="1371600"/>
          </a:xfrm>
          <a:prstGeom prst="rect">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754880"/>
            <a:ext cx="3108960" cy="822960"/>
          </a:xfrm>
          <a:prstGeom prst="rect">
            <a:avLst/>
          </a:prstGeom>
          <a:noFill/>
        </p:spPr>
        <p:txBody>
          <a:bodyPr wrap="square">
            <a:spAutoFit/>
          </a:bodyPr>
          <a:lstStyle/>
          <a:p>
            <a:pPr algn="l"/>
            <a:r>
              <a:rPr b="1" i="0" sz="1400">
                <a:solidFill>
                  <a:srgbClr val="003087"/>
                </a:solidFill>
                <a:latin typeface="Noto Sans JP"/>
              </a:rPr>
              <a:t>非レスポンダー率</a:t>
            </a:r>
          </a:p>
        </p:txBody>
      </p:sp>
      <p:sp>
        <p:nvSpPr>
          <p:cNvPr id="26" name="Rectangle 25"/>
          <p:cNvSpPr/>
          <p:nvPr/>
        </p:nvSpPr>
        <p:spPr>
          <a:xfrm>
            <a:off x="3840480" y="4480560"/>
            <a:ext cx="3657600" cy="13716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0480" y="4526280"/>
            <a:ext cx="3657600" cy="822960"/>
          </a:xfrm>
          <a:prstGeom prst="rect">
            <a:avLst/>
          </a:prstGeom>
          <a:noFill/>
        </p:spPr>
        <p:txBody>
          <a:bodyPr wrap="square">
            <a:spAutoFit/>
          </a:bodyPr>
          <a:lstStyle/>
          <a:p>
            <a:pPr algn="ctr"/>
            <a:r>
              <a:rPr b="1" i="0" sz="3800">
                <a:solidFill>
                  <a:srgbClr val="FFFFFF"/>
                </a:solidFill>
                <a:latin typeface="Noto Sans JP"/>
              </a:rPr>
              <a:t>27.78%</a:t>
            </a:r>
          </a:p>
        </p:txBody>
      </p:sp>
      <p:sp>
        <p:nvSpPr>
          <p:cNvPr id="28" name="TextBox 27"/>
          <p:cNvSpPr txBox="1"/>
          <p:nvPr/>
        </p:nvSpPr>
        <p:spPr>
          <a:xfrm>
            <a:off x="3840480" y="5394960"/>
            <a:ext cx="3657600" cy="320040"/>
          </a:xfrm>
          <a:prstGeom prst="rect">
            <a:avLst/>
          </a:prstGeom>
          <a:noFill/>
        </p:spPr>
        <p:txBody>
          <a:bodyPr wrap="square">
            <a:spAutoFit/>
          </a:bodyPr>
          <a:lstStyle/>
          <a:p>
            <a:pPr algn="ctr"/>
            <a:r>
              <a:rPr b="0" i="0" sz="1100">
                <a:solidFill>
                  <a:srgbClr val="FFFFFF"/>
                </a:solidFill>
                <a:latin typeface="Noto Sans JP"/>
              </a:rPr>
              <a:t>ANT-DBS  N=5/18</a:t>
            </a:r>
          </a:p>
        </p:txBody>
      </p:sp>
      <p:sp>
        <p:nvSpPr>
          <p:cNvPr id="29" name="Rectangle 28"/>
          <p:cNvSpPr/>
          <p:nvPr/>
        </p:nvSpPr>
        <p:spPr>
          <a:xfrm>
            <a:off x="7772400" y="4480560"/>
            <a:ext cx="3840480" cy="13716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0" y="4526280"/>
            <a:ext cx="3840480" cy="822960"/>
          </a:xfrm>
          <a:prstGeom prst="rect">
            <a:avLst/>
          </a:prstGeom>
          <a:noFill/>
        </p:spPr>
        <p:txBody>
          <a:bodyPr wrap="square">
            <a:spAutoFit/>
          </a:bodyPr>
          <a:lstStyle/>
          <a:p>
            <a:pPr algn="ctr"/>
            <a:r>
              <a:rPr b="0" i="0" sz="3800">
                <a:solidFill>
                  <a:srgbClr val="003087"/>
                </a:solidFill>
                <a:latin typeface="Noto Sans JP"/>
              </a:rPr>
              <a:t>41.18%</a:t>
            </a:r>
          </a:p>
        </p:txBody>
      </p:sp>
      <p:sp>
        <p:nvSpPr>
          <p:cNvPr id="31" name="TextBox 30"/>
          <p:cNvSpPr txBox="1"/>
          <p:nvPr/>
        </p:nvSpPr>
        <p:spPr>
          <a:xfrm>
            <a:off x="7772400" y="5394960"/>
            <a:ext cx="3840480" cy="320040"/>
          </a:xfrm>
          <a:prstGeom prst="rect">
            <a:avLst/>
          </a:prstGeom>
          <a:noFill/>
        </p:spPr>
        <p:txBody>
          <a:bodyPr wrap="square">
            <a:spAutoFit/>
          </a:bodyPr>
          <a:lstStyle/>
          <a:p>
            <a:pPr algn="ctr"/>
            <a:r>
              <a:rPr b="0" i="0" sz="1100">
                <a:solidFill>
                  <a:srgbClr val="003087"/>
                </a:solidFill>
                <a:latin typeface="Noto Sans JP"/>
              </a:rPr>
              <a:t>VNS  N=7/17</a:t>
            </a:r>
          </a:p>
        </p:txBody>
      </p:sp>
      <p:sp>
        <p:nvSpPr>
          <p:cNvPr id="32" name="TextBox 31"/>
          <p:cNvSpPr txBox="1"/>
          <p:nvPr/>
        </p:nvSpPr>
        <p:spPr>
          <a:xfrm>
            <a:off x="365760" y="6035040"/>
            <a:ext cx="11430000" cy="411480"/>
          </a:xfrm>
          <a:prstGeom prst="rect">
            <a:avLst/>
          </a:prstGeom>
          <a:noFill/>
        </p:spPr>
        <p:txBody>
          <a:bodyPr wrap="square">
            <a:spAutoFit/>
          </a:bodyPr>
          <a:lstStyle/>
          <a:p>
            <a:pPr algn="ctr"/>
            <a:r>
              <a:rPr b="1" i="0" sz="1400">
                <a:solidFill>
                  <a:srgbClr val="003087"/>
                </a:solidFill>
                <a:latin typeface="Noto Sans JP"/>
              </a:rPr>
              <a:t>ANT-DBSはレスポンダー率・発作消失率ともにVNSを上回り、非レスポンダー率は低い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777240"/>
          </a:xfrm>
          <a:prstGeom prst="rect">
            <a:avLst/>
          </a:prstGeom>
          <a:noFill/>
        </p:spPr>
        <p:txBody>
          <a:bodyPr wrap="square">
            <a:spAutoFit/>
          </a:bodyPr>
          <a:lstStyle/>
          <a:p>
            <a:pPr algn="l"/>
            <a:r>
              <a:rPr b="1" i="0" sz="2400">
                <a:solidFill>
                  <a:srgbClr val="FFFFFF"/>
                </a:solidFill>
                <a:latin typeface="Noto Sans JP"/>
              </a:rPr>
              <a:t>サブグループ解析：ANT-DBSが特に有効な患者像</a:t>
            </a:r>
          </a:p>
        </p:txBody>
      </p:sp>
      <p:sp>
        <p:nvSpPr>
          <p:cNvPr id="4" name="Rectangle 3"/>
          <p:cNvSpPr/>
          <p:nvPr/>
        </p:nvSpPr>
        <p:spPr>
          <a:xfrm>
            <a:off x="0" y="1005840"/>
            <a:ext cx="12188952" cy="64008"/>
          </a:xfrm>
          <a:prstGeom prst="rect">
            <a:avLst/>
          </a:prstGeom>
          <a:solidFill>
            <a:srgbClr val="00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88952" cy="36576"/>
          </a:xfrm>
          <a:prstGeom prst="rect">
            <a:avLst/>
          </a:prstGeom>
          <a:solidFill>
            <a:srgbClr val="00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83680"/>
            <a:ext cx="10972800" cy="228600"/>
          </a:xfrm>
          <a:prstGeom prst="rect">
            <a:avLst/>
          </a:prstGeom>
          <a:noFill/>
        </p:spPr>
        <p:txBody>
          <a:bodyPr wrap="square">
            <a:spAutoFit/>
          </a:bodyPr>
          <a:lstStyle/>
          <a:p>
            <a:pPr algn="l"/>
            <a:r>
              <a:rPr b="0" i="0" sz="700">
                <a:solidFill>
                  <a:srgbClr val="888888"/>
                </a:solidFill>
                <a:latin typeface="Noto Sans JP"/>
              </a:rPr>
              <a:t>Zhu J, et al. J Clin Neurosci. 2021;90:112–117  |  本資材は医療従事者向けの情報提供を目的として作成されています</a:t>
            </a:r>
          </a:p>
        </p:txBody>
      </p:sp>
      <p:sp>
        <p:nvSpPr>
          <p:cNvPr id="7" name="TextBox 6"/>
          <p:cNvSpPr txBox="1"/>
          <p:nvPr/>
        </p:nvSpPr>
        <p:spPr>
          <a:xfrm>
            <a:off x="11247120" y="6492240"/>
            <a:ext cx="914400" cy="320040"/>
          </a:xfrm>
          <a:prstGeom prst="rect">
            <a:avLst/>
          </a:prstGeom>
          <a:noFill/>
        </p:spPr>
        <p:txBody>
          <a:bodyPr wrap="square">
            <a:spAutoFit/>
          </a:bodyPr>
          <a:lstStyle/>
          <a:p>
            <a:pPr algn="r"/>
            <a:r>
              <a:rPr b="0" i="0" sz="900">
                <a:solidFill>
                  <a:srgbClr val="AAAAAA"/>
                </a:solidFill>
                <a:latin typeface="Noto Sans JP"/>
              </a:rPr>
              <a:t>6 / 8</a:t>
            </a:r>
          </a:p>
        </p:txBody>
      </p:sp>
      <p:sp>
        <p:nvSpPr>
          <p:cNvPr id="8" name="TextBox 7"/>
          <p:cNvSpPr txBox="1"/>
          <p:nvPr/>
        </p:nvSpPr>
        <p:spPr>
          <a:xfrm>
            <a:off x="365760" y="1143000"/>
            <a:ext cx="11430000" cy="411480"/>
          </a:xfrm>
          <a:prstGeom prst="rect">
            <a:avLst/>
          </a:prstGeom>
          <a:noFill/>
        </p:spPr>
        <p:txBody>
          <a:bodyPr wrap="square">
            <a:spAutoFit/>
          </a:bodyPr>
          <a:lstStyle/>
          <a:p>
            <a:pPr algn="l"/>
            <a:r>
              <a:rPr b="0" i="0" sz="1600">
                <a:solidFill>
                  <a:srgbClr val="003087"/>
                </a:solidFill>
                <a:latin typeface="Noto Sans JP"/>
              </a:rPr>
              <a:t>術前の臨床的特徴に基づいて、最適な治療を選択できる可能性があります</a:t>
            </a:r>
          </a:p>
        </p:txBody>
      </p:sp>
      <p:sp>
        <p:nvSpPr>
          <p:cNvPr id="9" name="Rectangle 8"/>
          <p:cNvSpPr/>
          <p:nvPr/>
        </p:nvSpPr>
        <p:spPr>
          <a:xfrm>
            <a:off x="365760" y="1828800"/>
            <a:ext cx="3657600" cy="27432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011680"/>
            <a:ext cx="3383280" cy="502920"/>
          </a:xfrm>
          <a:prstGeom prst="rect">
            <a:avLst/>
          </a:prstGeom>
          <a:noFill/>
        </p:spPr>
        <p:txBody>
          <a:bodyPr wrap="square">
            <a:spAutoFit/>
          </a:bodyPr>
          <a:lstStyle/>
          <a:p>
            <a:pPr algn="l"/>
            <a:r>
              <a:rPr b="1" i="0" sz="1600">
                <a:solidFill>
                  <a:srgbClr val="00A8E0"/>
                </a:solidFill>
                <a:latin typeface="Noto Sans JP"/>
              </a:rPr>
              <a:t>焦点性発作</a:t>
            </a:r>
          </a:p>
        </p:txBody>
      </p:sp>
      <p:sp>
        <p:nvSpPr>
          <p:cNvPr id="11" name="Rectangle 10"/>
          <p:cNvSpPr/>
          <p:nvPr/>
        </p:nvSpPr>
        <p:spPr>
          <a:xfrm>
            <a:off x="502920" y="2606040"/>
            <a:ext cx="3383280" cy="54864"/>
          </a:xfrm>
          <a:prstGeom prst="rect">
            <a:avLst/>
          </a:prstGeom>
          <a:solidFill>
            <a:srgbClr val="00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2697480"/>
            <a:ext cx="3657600" cy="1005840"/>
          </a:xfrm>
          <a:prstGeom prst="rect">
            <a:avLst/>
          </a:prstGeom>
          <a:noFill/>
        </p:spPr>
        <p:txBody>
          <a:bodyPr wrap="square">
            <a:spAutoFit/>
          </a:bodyPr>
          <a:lstStyle/>
          <a:p>
            <a:pPr algn="ctr"/>
            <a:r>
              <a:rPr b="1" i="0" sz="3600">
                <a:solidFill>
                  <a:srgbClr val="FFFFFF"/>
                </a:solidFill>
                <a:latin typeface="Noto Sans JP"/>
              </a:rPr>
              <a:t>71.15%</a:t>
            </a:r>
          </a:p>
        </p:txBody>
      </p:sp>
      <p:sp>
        <p:nvSpPr>
          <p:cNvPr id="13" name="TextBox 12"/>
          <p:cNvSpPr txBox="1"/>
          <p:nvPr/>
        </p:nvSpPr>
        <p:spPr>
          <a:xfrm>
            <a:off x="457200" y="3794760"/>
            <a:ext cx="3474720" cy="548640"/>
          </a:xfrm>
          <a:prstGeom prst="rect">
            <a:avLst/>
          </a:prstGeom>
          <a:noFill/>
        </p:spPr>
        <p:txBody>
          <a:bodyPr wrap="square">
            <a:spAutoFit/>
          </a:bodyPr>
          <a:lstStyle/>
          <a:p>
            <a:pPr algn="l"/>
            <a:r>
              <a:rPr b="0" i="1" sz="1100">
                <a:solidFill>
                  <a:srgbClr val="CCDDFF"/>
                </a:solidFill>
                <a:latin typeface="Noto Sans JP"/>
              </a:rPr>
              <a:t>vs VNS 59.00%</a:t>
            </a:r>
          </a:p>
        </p:txBody>
      </p:sp>
      <p:sp>
        <p:nvSpPr>
          <p:cNvPr id="14" name="Rectangle 13"/>
          <p:cNvSpPr/>
          <p:nvPr/>
        </p:nvSpPr>
        <p:spPr>
          <a:xfrm>
            <a:off x="4251960" y="1828800"/>
            <a:ext cx="3657600" cy="27432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2011680"/>
            <a:ext cx="3383280" cy="502920"/>
          </a:xfrm>
          <a:prstGeom prst="rect">
            <a:avLst/>
          </a:prstGeom>
          <a:noFill/>
        </p:spPr>
        <p:txBody>
          <a:bodyPr wrap="square">
            <a:spAutoFit/>
          </a:bodyPr>
          <a:lstStyle/>
          <a:p>
            <a:pPr algn="l"/>
            <a:r>
              <a:rPr b="1" i="0" sz="1600">
                <a:solidFill>
                  <a:srgbClr val="00A8E0"/>
                </a:solidFill>
                <a:latin typeface="Noto Sans JP"/>
              </a:rPr>
              <a:t>開頭術歴あり</a:t>
            </a:r>
          </a:p>
        </p:txBody>
      </p:sp>
      <p:sp>
        <p:nvSpPr>
          <p:cNvPr id="16" name="Rectangle 15"/>
          <p:cNvSpPr/>
          <p:nvPr/>
        </p:nvSpPr>
        <p:spPr>
          <a:xfrm>
            <a:off x="4389120" y="2606040"/>
            <a:ext cx="3383280" cy="54864"/>
          </a:xfrm>
          <a:prstGeom prst="rect">
            <a:avLst/>
          </a:prstGeom>
          <a:solidFill>
            <a:srgbClr val="00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51960" y="2697480"/>
            <a:ext cx="3657600" cy="1005840"/>
          </a:xfrm>
          <a:prstGeom prst="rect">
            <a:avLst/>
          </a:prstGeom>
          <a:noFill/>
        </p:spPr>
        <p:txBody>
          <a:bodyPr wrap="square">
            <a:spAutoFit/>
          </a:bodyPr>
          <a:lstStyle/>
          <a:p>
            <a:pPr algn="ctr"/>
            <a:r>
              <a:rPr b="1" i="0" sz="3600">
                <a:solidFill>
                  <a:srgbClr val="FFFFFF"/>
                </a:solidFill>
                <a:latin typeface="Noto Sans JP"/>
              </a:rPr>
              <a:t>81.20%</a:t>
            </a:r>
          </a:p>
        </p:txBody>
      </p:sp>
      <p:sp>
        <p:nvSpPr>
          <p:cNvPr id="18" name="TextBox 17"/>
          <p:cNvSpPr txBox="1"/>
          <p:nvPr/>
        </p:nvSpPr>
        <p:spPr>
          <a:xfrm>
            <a:off x="4343400" y="3794760"/>
            <a:ext cx="3474720" cy="548640"/>
          </a:xfrm>
          <a:prstGeom prst="rect">
            <a:avLst/>
          </a:prstGeom>
          <a:noFill/>
        </p:spPr>
        <p:txBody>
          <a:bodyPr wrap="square">
            <a:spAutoFit/>
          </a:bodyPr>
          <a:lstStyle/>
          <a:p>
            <a:pPr algn="l"/>
            <a:r>
              <a:rPr b="0" i="1" sz="1100">
                <a:solidFill>
                  <a:srgbClr val="CCDDFF"/>
                </a:solidFill>
                <a:latin typeface="Noto Sans JP"/>
              </a:rPr>
              <a:t>過去の開頭術後も高い効果</a:t>
            </a:r>
          </a:p>
        </p:txBody>
      </p:sp>
      <p:sp>
        <p:nvSpPr>
          <p:cNvPr id="19" name="Rectangle 18"/>
          <p:cNvSpPr/>
          <p:nvPr/>
        </p:nvSpPr>
        <p:spPr>
          <a:xfrm>
            <a:off x="8138160" y="1828800"/>
            <a:ext cx="3657600" cy="27432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2011680"/>
            <a:ext cx="3383280" cy="502920"/>
          </a:xfrm>
          <a:prstGeom prst="rect">
            <a:avLst/>
          </a:prstGeom>
          <a:noFill/>
        </p:spPr>
        <p:txBody>
          <a:bodyPr wrap="square">
            <a:spAutoFit/>
          </a:bodyPr>
          <a:lstStyle/>
          <a:p>
            <a:pPr algn="l"/>
            <a:r>
              <a:rPr b="1" i="0" sz="1600">
                <a:solidFill>
                  <a:srgbClr val="00A8E0"/>
                </a:solidFill>
                <a:latin typeface="Noto Sans JP"/>
              </a:rPr>
              <a:t>罹病期間が長い</a:t>
            </a:r>
          </a:p>
        </p:txBody>
      </p:sp>
      <p:sp>
        <p:nvSpPr>
          <p:cNvPr id="21" name="Rectangle 20"/>
          <p:cNvSpPr/>
          <p:nvPr/>
        </p:nvSpPr>
        <p:spPr>
          <a:xfrm>
            <a:off x="8275320" y="2606040"/>
            <a:ext cx="3383280" cy="54864"/>
          </a:xfrm>
          <a:prstGeom prst="rect">
            <a:avLst/>
          </a:prstGeom>
          <a:solidFill>
            <a:srgbClr val="00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60" y="2697480"/>
            <a:ext cx="3657600" cy="1005840"/>
          </a:xfrm>
          <a:prstGeom prst="rect">
            <a:avLst/>
          </a:prstGeom>
          <a:noFill/>
        </p:spPr>
        <p:txBody>
          <a:bodyPr wrap="square">
            <a:spAutoFit/>
          </a:bodyPr>
          <a:lstStyle/>
          <a:p>
            <a:pPr algn="ctr"/>
            <a:r>
              <a:rPr b="1" i="0" sz="3600">
                <a:solidFill>
                  <a:srgbClr val="FFFFFF"/>
                </a:solidFill>
                <a:latin typeface="Noto Sans JP"/>
              </a:rPr>
              <a:t>有意な正の相関</a:t>
            </a:r>
          </a:p>
        </p:txBody>
      </p:sp>
      <p:sp>
        <p:nvSpPr>
          <p:cNvPr id="23" name="TextBox 22"/>
          <p:cNvSpPr txBox="1"/>
          <p:nvPr/>
        </p:nvSpPr>
        <p:spPr>
          <a:xfrm>
            <a:off x="8229600" y="3794760"/>
            <a:ext cx="3474720" cy="548640"/>
          </a:xfrm>
          <a:prstGeom prst="rect">
            <a:avLst/>
          </a:prstGeom>
          <a:noFill/>
        </p:spPr>
        <p:txBody>
          <a:bodyPr wrap="square">
            <a:spAutoFit/>
          </a:bodyPr>
          <a:lstStyle/>
          <a:p>
            <a:pPr algn="l"/>
            <a:r>
              <a:rPr b="0" i="1" sz="1100">
                <a:solidFill>
                  <a:srgbClr val="CCDDFF"/>
                </a:solidFill>
                <a:latin typeface="Noto Sans JP"/>
              </a:rPr>
              <a:t>P &lt; 0.05</a:t>
            </a:r>
          </a:p>
        </p:txBody>
      </p:sp>
      <p:sp>
        <p:nvSpPr>
          <p:cNvPr id="24" name="TextBox 23"/>
          <p:cNvSpPr txBox="1"/>
          <p:nvPr/>
        </p:nvSpPr>
        <p:spPr>
          <a:xfrm>
            <a:off x="365760" y="4800600"/>
            <a:ext cx="11430000" cy="365760"/>
          </a:xfrm>
          <a:prstGeom prst="rect">
            <a:avLst/>
          </a:prstGeom>
          <a:noFill/>
        </p:spPr>
        <p:txBody>
          <a:bodyPr wrap="square">
            <a:spAutoFit/>
          </a:bodyPr>
          <a:lstStyle/>
          <a:p>
            <a:pPr algn="l"/>
            <a:r>
              <a:rPr b="1" i="0" sz="1500">
                <a:solidFill>
                  <a:srgbClr val="003087"/>
                </a:solidFill>
                <a:latin typeface="Noto Sans JP"/>
              </a:rPr>
              <a:t>ANT-DBS 適応が考慮される患者の特徴：</a:t>
            </a:r>
          </a:p>
        </p:txBody>
      </p:sp>
      <p:sp>
        <p:nvSpPr>
          <p:cNvPr id="25" name="Rectangle 24"/>
          <p:cNvSpPr/>
          <p:nvPr/>
        </p:nvSpPr>
        <p:spPr>
          <a:xfrm>
            <a:off x="457200" y="5257800"/>
            <a:ext cx="2697480" cy="594360"/>
          </a:xfrm>
          <a:prstGeom prst="rect">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321808"/>
            <a:ext cx="2514600" cy="457200"/>
          </a:xfrm>
          <a:prstGeom prst="rect">
            <a:avLst/>
          </a:prstGeom>
          <a:noFill/>
        </p:spPr>
        <p:txBody>
          <a:bodyPr wrap="square">
            <a:spAutoFit/>
          </a:bodyPr>
          <a:lstStyle/>
          <a:p>
            <a:pPr algn="l"/>
            <a:r>
              <a:rPr b="0" i="0" sz="1200">
                <a:solidFill>
                  <a:srgbClr val="003087"/>
                </a:solidFill>
                <a:latin typeface="Noto Sans JP"/>
              </a:rPr>
              <a:t>✔  焦点性発作</a:t>
            </a:r>
          </a:p>
        </p:txBody>
      </p:sp>
      <p:sp>
        <p:nvSpPr>
          <p:cNvPr id="27" name="Rectangle 26"/>
          <p:cNvSpPr/>
          <p:nvPr/>
        </p:nvSpPr>
        <p:spPr>
          <a:xfrm>
            <a:off x="3291840" y="5257800"/>
            <a:ext cx="2697480" cy="594360"/>
          </a:xfrm>
          <a:prstGeom prst="rect">
            <a:avLst/>
          </a:prstGeom>
          <a:solidFill>
            <a:srgbClr val="D8E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83280" y="5321808"/>
            <a:ext cx="2514600" cy="457200"/>
          </a:xfrm>
          <a:prstGeom prst="rect">
            <a:avLst/>
          </a:prstGeom>
          <a:noFill/>
        </p:spPr>
        <p:txBody>
          <a:bodyPr wrap="square">
            <a:spAutoFit/>
          </a:bodyPr>
          <a:lstStyle/>
          <a:p>
            <a:pPr algn="l"/>
            <a:r>
              <a:rPr b="0" i="0" sz="1200">
                <a:solidFill>
                  <a:srgbClr val="003087"/>
                </a:solidFill>
                <a:latin typeface="Noto Sans JP"/>
              </a:rPr>
              <a:t>✔  過去に開頭術（切除術）を受けている</a:t>
            </a:r>
          </a:p>
        </p:txBody>
      </p:sp>
      <p:sp>
        <p:nvSpPr>
          <p:cNvPr id="29" name="Rectangle 28"/>
          <p:cNvSpPr/>
          <p:nvPr/>
        </p:nvSpPr>
        <p:spPr>
          <a:xfrm>
            <a:off x="6126480" y="5257800"/>
            <a:ext cx="2697480" cy="594360"/>
          </a:xfrm>
          <a:prstGeom prst="rect">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0" y="5321808"/>
            <a:ext cx="2514600" cy="457200"/>
          </a:xfrm>
          <a:prstGeom prst="rect">
            <a:avLst/>
          </a:prstGeom>
          <a:noFill/>
        </p:spPr>
        <p:txBody>
          <a:bodyPr wrap="square">
            <a:spAutoFit/>
          </a:bodyPr>
          <a:lstStyle/>
          <a:p>
            <a:pPr algn="l"/>
            <a:r>
              <a:rPr b="0" i="0" sz="1200">
                <a:solidFill>
                  <a:srgbClr val="003087"/>
                </a:solidFill>
                <a:latin typeface="Noto Sans JP"/>
              </a:rPr>
              <a:t>✔  罹病期間が長い（長期難治性）</a:t>
            </a:r>
          </a:p>
        </p:txBody>
      </p:sp>
      <p:sp>
        <p:nvSpPr>
          <p:cNvPr id="31" name="Rectangle 30"/>
          <p:cNvSpPr/>
          <p:nvPr/>
        </p:nvSpPr>
        <p:spPr>
          <a:xfrm>
            <a:off x="8961120" y="5257800"/>
            <a:ext cx="2697480" cy="594360"/>
          </a:xfrm>
          <a:prstGeom prst="rect">
            <a:avLst/>
          </a:prstGeom>
          <a:solidFill>
            <a:srgbClr val="D8E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0" y="5321808"/>
            <a:ext cx="2514600" cy="457200"/>
          </a:xfrm>
          <a:prstGeom prst="rect">
            <a:avLst/>
          </a:prstGeom>
          <a:noFill/>
        </p:spPr>
        <p:txBody>
          <a:bodyPr wrap="square">
            <a:spAutoFit/>
          </a:bodyPr>
          <a:lstStyle/>
          <a:p>
            <a:pPr algn="l"/>
            <a:r>
              <a:rPr b="0" i="0" sz="1200">
                <a:solidFill>
                  <a:srgbClr val="003087"/>
                </a:solidFill>
                <a:latin typeface="Noto Sans JP"/>
              </a:rPr>
              <a:t>✔  手術時年齢が比較的高い（成人）</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777240"/>
          </a:xfrm>
          <a:prstGeom prst="rect">
            <a:avLst/>
          </a:prstGeom>
          <a:noFill/>
        </p:spPr>
        <p:txBody>
          <a:bodyPr wrap="square">
            <a:spAutoFit/>
          </a:bodyPr>
          <a:lstStyle/>
          <a:p>
            <a:pPr algn="l"/>
            <a:r>
              <a:rPr b="1" i="0" sz="2400">
                <a:solidFill>
                  <a:srgbClr val="FFFFFF"/>
                </a:solidFill>
                <a:latin typeface="Noto Sans JP"/>
              </a:rPr>
              <a:t>安全性：重篤な合併症なし、継続刺激で良好な忍容性</a:t>
            </a:r>
          </a:p>
        </p:txBody>
      </p:sp>
      <p:sp>
        <p:nvSpPr>
          <p:cNvPr id="4" name="Rectangle 3"/>
          <p:cNvSpPr/>
          <p:nvPr/>
        </p:nvSpPr>
        <p:spPr>
          <a:xfrm>
            <a:off x="0" y="1005840"/>
            <a:ext cx="12188952" cy="64008"/>
          </a:xfrm>
          <a:prstGeom prst="rect">
            <a:avLst/>
          </a:prstGeom>
          <a:solidFill>
            <a:srgbClr val="00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88952" cy="36576"/>
          </a:xfrm>
          <a:prstGeom prst="rect">
            <a:avLst/>
          </a:prstGeom>
          <a:solidFill>
            <a:srgbClr val="00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83680"/>
            <a:ext cx="10972800" cy="228600"/>
          </a:xfrm>
          <a:prstGeom prst="rect">
            <a:avLst/>
          </a:prstGeom>
          <a:noFill/>
        </p:spPr>
        <p:txBody>
          <a:bodyPr wrap="square">
            <a:spAutoFit/>
          </a:bodyPr>
          <a:lstStyle/>
          <a:p>
            <a:pPr algn="l"/>
            <a:r>
              <a:rPr b="0" i="0" sz="700">
                <a:solidFill>
                  <a:srgbClr val="888888"/>
                </a:solidFill>
                <a:latin typeface="Noto Sans JP"/>
              </a:rPr>
              <a:t>Zhu J, et al. J Clin Neurosci. 2021;90:112–117  |  本資材は医療従事者向けの情報提供を目的として作成されています</a:t>
            </a:r>
          </a:p>
        </p:txBody>
      </p:sp>
      <p:sp>
        <p:nvSpPr>
          <p:cNvPr id="7" name="TextBox 6"/>
          <p:cNvSpPr txBox="1"/>
          <p:nvPr/>
        </p:nvSpPr>
        <p:spPr>
          <a:xfrm>
            <a:off x="11247120" y="6492240"/>
            <a:ext cx="914400" cy="320040"/>
          </a:xfrm>
          <a:prstGeom prst="rect">
            <a:avLst/>
          </a:prstGeom>
          <a:noFill/>
        </p:spPr>
        <p:txBody>
          <a:bodyPr wrap="square">
            <a:spAutoFit/>
          </a:bodyPr>
          <a:lstStyle/>
          <a:p>
            <a:pPr algn="r"/>
            <a:r>
              <a:rPr b="0" i="0" sz="900">
                <a:solidFill>
                  <a:srgbClr val="AAAAAA"/>
                </a:solidFill>
                <a:latin typeface="Noto Sans JP"/>
              </a:rPr>
              <a:t>7 / 8</a:t>
            </a:r>
          </a:p>
        </p:txBody>
      </p:sp>
      <p:sp>
        <p:nvSpPr>
          <p:cNvPr id="8" name="Rectangle 7"/>
          <p:cNvSpPr/>
          <p:nvPr/>
        </p:nvSpPr>
        <p:spPr>
          <a:xfrm>
            <a:off x="365760" y="1234440"/>
            <a:ext cx="11338560" cy="9144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325880"/>
            <a:ext cx="11155680" cy="731520"/>
          </a:xfrm>
          <a:prstGeom prst="rect">
            <a:avLst/>
          </a:prstGeom>
          <a:noFill/>
        </p:spPr>
        <p:txBody>
          <a:bodyPr wrap="square">
            <a:spAutoFit/>
          </a:bodyPr>
          <a:lstStyle/>
          <a:p>
            <a:pPr algn="ctr"/>
            <a:r>
              <a:rPr b="1" i="0" sz="1800">
                <a:solidFill>
                  <a:srgbClr val="FFFFFF"/>
                </a:solidFill>
                <a:latin typeface="Noto Sans JP"/>
              </a:rPr>
              <a:t>観察期間中（術後12ヵ月）、両治療とも重篤な合併症・副作用は報告されませんでした</a:t>
            </a:r>
          </a:p>
        </p:txBody>
      </p:sp>
      <p:sp>
        <p:nvSpPr>
          <p:cNvPr id="10" name="Rectangle 9"/>
          <p:cNvSpPr/>
          <p:nvPr/>
        </p:nvSpPr>
        <p:spPr>
          <a:xfrm>
            <a:off x="365760" y="2331720"/>
            <a:ext cx="2331720" cy="457200"/>
          </a:xfrm>
          <a:prstGeom prst="rect">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386584"/>
            <a:ext cx="2331720" cy="365760"/>
          </a:xfrm>
          <a:prstGeom prst="rect">
            <a:avLst/>
          </a:prstGeom>
          <a:noFill/>
        </p:spPr>
        <p:txBody>
          <a:bodyPr wrap="square">
            <a:spAutoFit/>
          </a:bodyPr>
          <a:lstStyle/>
          <a:p>
            <a:pPr algn="ctr"/>
            <a:r>
              <a:rPr b="1" i="0" sz="1400">
                <a:solidFill>
                  <a:srgbClr val="003087"/>
                </a:solidFill>
                <a:latin typeface="Noto Sans JP"/>
              </a:rPr>
              <a:t/>
            </a:r>
          </a:p>
        </p:txBody>
      </p:sp>
      <p:sp>
        <p:nvSpPr>
          <p:cNvPr id="12" name="Rectangle 11"/>
          <p:cNvSpPr/>
          <p:nvPr/>
        </p:nvSpPr>
        <p:spPr>
          <a:xfrm>
            <a:off x="2743200" y="2331720"/>
            <a:ext cx="4754880" cy="4572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0" y="2386584"/>
            <a:ext cx="4754880" cy="365760"/>
          </a:xfrm>
          <a:prstGeom prst="rect">
            <a:avLst/>
          </a:prstGeom>
          <a:noFill/>
        </p:spPr>
        <p:txBody>
          <a:bodyPr wrap="square">
            <a:spAutoFit/>
          </a:bodyPr>
          <a:lstStyle/>
          <a:p>
            <a:pPr algn="ctr"/>
            <a:r>
              <a:rPr b="1" i="0" sz="1400">
                <a:solidFill>
                  <a:srgbClr val="FFFFFF"/>
                </a:solidFill>
                <a:latin typeface="Noto Sans JP"/>
              </a:rPr>
              <a:t>VNS</a:t>
            </a:r>
          </a:p>
        </p:txBody>
      </p:sp>
      <p:sp>
        <p:nvSpPr>
          <p:cNvPr id="14" name="Rectangle 13"/>
          <p:cNvSpPr/>
          <p:nvPr/>
        </p:nvSpPr>
        <p:spPr>
          <a:xfrm>
            <a:off x="7589520" y="2331720"/>
            <a:ext cx="4480560" cy="4572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0" y="2386584"/>
            <a:ext cx="4480560" cy="365760"/>
          </a:xfrm>
          <a:prstGeom prst="rect">
            <a:avLst/>
          </a:prstGeom>
          <a:noFill/>
        </p:spPr>
        <p:txBody>
          <a:bodyPr wrap="square">
            <a:spAutoFit/>
          </a:bodyPr>
          <a:lstStyle/>
          <a:p>
            <a:pPr algn="ctr"/>
            <a:r>
              <a:rPr b="1" i="0" sz="1400">
                <a:solidFill>
                  <a:srgbClr val="FFFFFF"/>
                </a:solidFill>
                <a:latin typeface="Noto Sans JP"/>
              </a:rPr>
              <a:t>ANT-DBS</a:t>
            </a:r>
          </a:p>
        </p:txBody>
      </p:sp>
      <p:sp>
        <p:nvSpPr>
          <p:cNvPr id="16" name="Rectangle 15"/>
          <p:cNvSpPr/>
          <p:nvPr/>
        </p:nvSpPr>
        <p:spPr>
          <a:xfrm>
            <a:off x="365760" y="2834640"/>
            <a:ext cx="2331720" cy="685800"/>
          </a:xfrm>
          <a:prstGeom prst="rect">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926080"/>
            <a:ext cx="2148840" cy="502920"/>
          </a:xfrm>
          <a:prstGeom prst="rect">
            <a:avLst/>
          </a:prstGeom>
          <a:noFill/>
        </p:spPr>
        <p:txBody>
          <a:bodyPr wrap="square">
            <a:spAutoFit/>
          </a:bodyPr>
          <a:lstStyle/>
          <a:p>
            <a:pPr algn="l"/>
            <a:r>
              <a:rPr b="1" i="0" sz="1200">
                <a:solidFill>
                  <a:srgbClr val="003087"/>
                </a:solidFill>
                <a:latin typeface="Noto Sans JP"/>
              </a:rPr>
              <a:t>主な有害事象</a:t>
            </a:r>
          </a:p>
        </p:txBody>
      </p:sp>
      <p:sp>
        <p:nvSpPr>
          <p:cNvPr id="18" name="Rectangle 17"/>
          <p:cNvSpPr/>
          <p:nvPr/>
        </p:nvSpPr>
        <p:spPr>
          <a:xfrm>
            <a:off x="2743200" y="2834640"/>
            <a:ext cx="4754880" cy="685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34640" y="2926080"/>
            <a:ext cx="4572000" cy="502920"/>
          </a:xfrm>
          <a:prstGeom prst="rect">
            <a:avLst/>
          </a:prstGeom>
          <a:noFill/>
        </p:spPr>
        <p:txBody>
          <a:bodyPr wrap="square">
            <a:spAutoFit/>
          </a:bodyPr>
          <a:lstStyle/>
          <a:p>
            <a:pPr algn="l"/>
            <a:r>
              <a:rPr b="0" i="0" sz="1200">
                <a:solidFill>
                  <a:srgbClr val="003087"/>
                </a:solidFill>
                <a:latin typeface="Noto Sans JP"/>
              </a:rPr>
              <a:t>嗄声、咳嗽、疼痛、呼吸困難</a:t>
            </a:r>
          </a:p>
        </p:txBody>
      </p:sp>
      <p:sp>
        <p:nvSpPr>
          <p:cNvPr id="20" name="Rectangle 19"/>
          <p:cNvSpPr/>
          <p:nvPr/>
        </p:nvSpPr>
        <p:spPr>
          <a:xfrm>
            <a:off x="7589520" y="2834640"/>
            <a:ext cx="4480560" cy="685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0" y="2926080"/>
            <a:ext cx="4297680" cy="502920"/>
          </a:xfrm>
          <a:prstGeom prst="rect">
            <a:avLst/>
          </a:prstGeom>
          <a:noFill/>
        </p:spPr>
        <p:txBody>
          <a:bodyPr wrap="square">
            <a:spAutoFit/>
          </a:bodyPr>
          <a:lstStyle/>
          <a:p>
            <a:pPr algn="l"/>
            <a:r>
              <a:rPr b="0" i="0" sz="1200">
                <a:solidFill>
                  <a:srgbClr val="003087"/>
                </a:solidFill>
                <a:latin typeface="Noto Sans JP"/>
              </a:rPr>
              <a:t>植込み部疼痛、感染、リード偏位</a:t>
            </a:r>
          </a:p>
        </p:txBody>
      </p:sp>
      <p:sp>
        <p:nvSpPr>
          <p:cNvPr id="22" name="Rectangle 21"/>
          <p:cNvSpPr/>
          <p:nvPr/>
        </p:nvSpPr>
        <p:spPr>
          <a:xfrm>
            <a:off x="365760" y="3566160"/>
            <a:ext cx="233172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3657600"/>
            <a:ext cx="2148840" cy="502920"/>
          </a:xfrm>
          <a:prstGeom prst="rect">
            <a:avLst/>
          </a:prstGeom>
          <a:noFill/>
        </p:spPr>
        <p:txBody>
          <a:bodyPr wrap="square">
            <a:spAutoFit/>
          </a:bodyPr>
          <a:lstStyle/>
          <a:p>
            <a:pPr algn="l"/>
            <a:r>
              <a:rPr b="1" i="0" sz="1200">
                <a:solidFill>
                  <a:srgbClr val="003087"/>
                </a:solidFill>
                <a:latin typeface="Noto Sans JP"/>
              </a:rPr>
              <a:t>重篤な合併症</a:t>
            </a:r>
          </a:p>
        </p:txBody>
      </p:sp>
      <p:sp>
        <p:nvSpPr>
          <p:cNvPr id="24" name="Rectangle 23"/>
          <p:cNvSpPr/>
          <p:nvPr/>
        </p:nvSpPr>
        <p:spPr>
          <a:xfrm>
            <a:off x="2743200" y="3566160"/>
            <a:ext cx="475488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34640" y="3657600"/>
            <a:ext cx="4572000" cy="502920"/>
          </a:xfrm>
          <a:prstGeom prst="rect">
            <a:avLst/>
          </a:prstGeom>
          <a:noFill/>
        </p:spPr>
        <p:txBody>
          <a:bodyPr wrap="square">
            <a:spAutoFit/>
          </a:bodyPr>
          <a:lstStyle/>
          <a:p>
            <a:pPr algn="l"/>
            <a:r>
              <a:rPr b="0" i="0" sz="1200">
                <a:solidFill>
                  <a:srgbClr val="003087"/>
                </a:solidFill>
                <a:latin typeface="Noto Sans JP"/>
              </a:rPr>
              <a:t>なし</a:t>
            </a:r>
          </a:p>
        </p:txBody>
      </p:sp>
      <p:sp>
        <p:nvSpPr>
          <p:cNvPr id="26" name="Rectangle 25"/>
          <p:cNvSpPr/>
          <p:nvPr/>
        </p:nvSpPr>
        <p:spPr>
          <a:xfrm>
            <a:off x="7589520" y="3566160"/>
            <a:ext cx="448056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0" y="3657600"/>
            <a:ext cx="4297680" cy="502920"/>
          </a:xfrm>
          <a:prstGeom prst="rect">
            <a:avLst/>
          </a:prstGeom>
          <a:noFill/>
        </p:spPr>
        <p:txBody>
          <a:bodyPr wrap="square">
            <a:spAutoFit/>
          </a:bodyPr>
          <a:lstStyle/>
          <a:p>
            <a:pPr algn="l"/>
            <a:r>
              <a:rPr b="0" i="0" sz="1200">
                <a:solidFill>
                  <a:srgbClr val="003087"/>
                </a:solidFill>
                <a:latin typeface="Noto Sans JP"/>
              </a:rPr>
              <a:t>なし</a:t>
            </a:r>
          </a:p>
        </p:txBody>
      </p:sp>
      <p:sp>
        <p:nvSpPr>
          <p:cNvPr id="28" name="Rectangle 27"/>
          <p:cNvSpPr/>
          <p:nvPr/>
        </p:nvSpPr>
        <p:spPr>
          <a:xfrm>
            <a:off x="365760" y="4297680"/>
            <a:ext cx="2331720" cy="685800"/>
          </a:xfrm>
          <a:prstGeom prst="rect">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4389120"/>
            <a:ext cx="2148840" cy="502920"/>
          </a:xfrm>
          <a:prstGeom prst="rect">
            <a:avLst/>
          </a:prstGeom>
          <a:noFill/>
        </p:spPr>
        <p:txBody>
          <a:bodyPr wrap="square">
            <a:spAutoFit/>
          </a:bodyPr>
          <a:lstStyle/>
          <a:p>
            <a:pPr algn="l"/>
            <a:r>
              <a:rPr b="1" i="0" sz="1200">
                <a:solidFill>
                  <a:srgbClr val="003087"/>
                </a:solidFill>
                <a:latin typeface="Noto Sans JP"/>
              </a:rPr>
              <a:t>刺激最適化</a:t>
            </a:r>
          </a:p>
        </p:txBody>
      </p:sp>
      <p:sp>
        <p:nvSpPr>
          <p:cNvPr id="30" name="Rectangle 29"/>
          <p:cNvSpPr/>
          <p:nvPr/>
        </p:nvSpPr>
        <p:spPr>
          <a:xfrm>
            <a:off x="2743200" y="4297680"/>
            <a:ext cx="4754880" cy="685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34640" y="4389120"/>
            <a:ext cx="4572000" cy="502920"/>
          </a:xfrm>
          <a:prstGeom prst="rect">
            <a:avLst/>
          </a:prstGeom>
          <a:noFill/>
        </p:spPr>
        <p:txBody>
          <a:bodyPr wrap="square">
            <a:spAutoFit/>
          </a:bodyPr>
          <a:lstStyle/>
          <a:p>
            <a:pPr algn="l"/>
            <a:r>
              <a:rPr b="0" i="0" sz="1200">
                <a:solidFill>
                  <a:srgbClr val="003087"/>
                </a:solidFill>
                <a:latin typeface="Noto Sans JP"/>
              </a:rPr>
              <a:t>患者の忍容性に応じ段階的に調整</a:t>
            </a:r>
          </a:p>
        </p:txBody>
      </p:sp>
      <p:sp>
        <p:nvSpPr>
          <p:cNvPr id="32" name="Rectangle 31"/>
          <p:cNvSpPr/>
          <p:nvPr/>
        </p:nvSpPr>
        <p:spPr>
          <a:xfrm>
            <a:off x="7589520" y="4297680"/>
            <a:ext cx="4480560" cy="685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80960" y="4389120"/>
            <a:ext cx="4297680" cy="502920"/>
          </a:xfrm>
          <a:prstGeom prst="rect">
            <a:avLst/>
          </a:prstGeom>
          <a:noFill/>
        </p:spPr>
        <p:txBody>
          <a:bodyPr wrap="square">
            <a:spAutoFit/>
          </a:bodyPr>
          <a:lstStyle/>
          <a:p>
            <a:pPr algn="l"/>
            <a:r>
              <a:rPr b="0" i="0" sz="1200">
                <a:solidFill>
                  <a:srgbClr val="003087"/>
                </a:solidFill>
                <a:latin typeface="Noto Sans JP"/>
              </a:rPr>
              <a:t>患者の忍容性に応じ段階的に調整</a:t>
            </a:r>
          </a:p>
        </p:txBody>
      </p:sp>
      <p:sp>
        <p:nvSpPr>
          <p:cNvPr id="34" name="TextBox 33"/>
          <p:cNvSpPr txBox="1"/>
          <p:nvPr/>
        </p:nvSpPr>
        <p:spPr>
          <a:xfrm>
            <a:off x="365760" y="5212080"/>
            <a:ext cx="11338560" cy="365760"/>
          </a:xfrm>
          <a:prstGeom prst="rect">
            <a:avLst/>
          </a:prstGeom>
          <a:noFill/>
        </p:spPr>
        <p:txBody>
          <a:bodyPr wrap="square">
            <a:spAutoFit/>
          </a:bodyPr>
          <a:lstStyle/>
          <a:p>
            <a:pPr algn="l"/>
            <a:r>
              <a:rPr b="0" i="1" sz="1300">
                <a:solidFill>
                  <a:srgbClr val="003087"/>
                </a:solidFill>
                <a:latin typeface="Noto Sans JP"/>
              </a:rPr>
              <a:t>刺激パラメータは治療効果と患者の忍容性に応じて段階的に最適化</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777240"/>
          </a:xfrm>
          <a:prstGeom prst="rect">
            <a:avLst/>
          </a:prstGeom>
          <a:noFill/>
        </p:spPr>
        <p:txBody>
          <a:bodyPr wrap="square">
            <a:spAutoFit/>
          </a:bodyPr>
          <a:lstStyle/>
          <a:p>
            <a:pPr algn="l"/>
            <a:r>
              <a:rPr b="1" i="0" sz="2400">
                <a:solidFill>
                  <a:srgbClr val="FFFFFF"/>
                </a:solidFill>
                <a:latin typeface="Noto Sans JP"/>
              </a:rPr>
              <a:t>まとめ：ANT-DBSが示す 3つの訴求ポイント</a:t>
            </a:r>
          </a:p>
        </p:txBody>
      </p:sp>
      <p:sp>
        <p:nvSpPr>
          <p:cNvPr id="4" name="Rectangle 3"/>
          <p:cNvSpPr/>
          <p:nvPr/>
        </p:nvSpPr>
        <p:spPr>
          <a:xfrm>
            <a:off x="0" y="1005840"/>
            <a:ext cx="12188952" cy="64008"/>
          </a:xfrm>
          <a:prstGeom prst="rect">
            <a:avLst/>
          </a:prstGeom>
          <a:solidFill>
            <a:srgbClr val="00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88952" cy="36576"/>
          </a:xfrm>
          <a:prstGeom prst="rect">
            <a:avLst/>
          </a:prstGeom>
          <a:solidFill>
            <a:srgbClr val="00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83680"/>
            <a:ext cx="10972800" cy="228600"/>
          </a:xfrm>
          <a:prstGeom prst="rect">
            <a:avLst/>
          </a:prstGeom>
          <a:noFill/>
        </p:spPr>
        <p:txBody>
          <a:bodyPr wrap="square">
            <a:spAutoFit/>
          </a:bodyPr>
          <a:lstStyle/>
          <a:p>
            <a:pPr algn="l"/>
            <a:r>
              <a:rPr b="0" i="0" sz="700">
                <a:solidFill>
                  <a:srgbClr val="888888"/>
                </a:solidFill>
                <a:latin typeface="Noto Sans JP"/>
              </a:rPr>
              <a:t>Zhu J, et al. J Clin Neurosci. 2021;90:112–117  |  本資材は医療従事者向けの情報提供を目的として作成されています</a:t>
            </a:r>
          </a:p>
        </p:txBody>
      </p:sp>
      <p:sp>
        <p:nvSpPr>
          <p:cNvPr id="7" name="TextBox 6"/>
          <p:cNvSpPr txBox="1"/>
          <p:nvPr/>
        </p:nvSpPr>
        <p:spPr>
          <a:xfrm>
            <a:off x="11247120" y="6492240"/>
            <a:ext cx="914400" cy="320040"/>
          </a:xfrm>
          <a:prstGeom prst="rect">
            <a:avLst/>
          </a:prstGeom>
          <a:noFill/>
        </p:spPr>
        <p:txBody>
          <a:bodyPr wrap="square">
            <a:spAutoFit/>
          </a:bodyPr>
          <a:lstStyle/>
          <a:p>
            <a:pPr algn="r"/>
            <a:r>
              <a:rPr b="0" i="0" sz="900">
                <a:solidFill>
                  <a:srgbClr val="AAAAAA"/>
                </a:solidFill>
                <a:latin typeface="Noto Sans JP"/>
              </a:rPr>
              <a:t>8 / 8</a:t>
            </a:r>
          </a:p>
        </p:txBody>
      </p:sp>
      <p:sp>
        <p:nvSpPr>
          <p:cNvPr id="8" name="Rectangle 7"/>
          <p:cNvSpPr/>
          <p:nvPr/>
        </p:nvSpPr>
        <p:spPr>
          <a:xfrm>
            <a:off x="365760" y="1325880"/>
            <a:ext cx="731520" cy="731520"/>
          </a:xfrm>
          <a:prstGeom prst="rect">
            <a:avLst/>
          </a:prstGeom>
          <a:solidFill>
            <a:srgbClr val="00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371600"/>
            <a:ext cx="731520" cy="640080"/>
          </a:xfrm>
          <a:prstGeom prst="rect">
            <a:avLst/>
          </a:prstGeom>
          <a:noFill/>
        </p:spPr>
        <p:txBody>
          <a:bodyPr wrap="square">
            <a:spAutoFit/>
          </a:bodyPr>
          <a:lstStyle/>
          <a:p>
            <a:pPr algn="ctr"/>
            <a:r>
              <a:rPr b="1" i="0" sz="2800">
                <a:solidFill>
                  <a:srgbClr val="FFFFFF"/>
                </a:solidFill>
                <a:latin typeface="Noto Sans JP"/>
              </a:rPr>
              <a:t>1</a:t>
            </a:r>
          </a:p>
        </p:txBody>
      </p:sp>
      <p:sp>
        <p:nvSpPr>
          <p:cNvPr id="10" name="Rectangle 9"/>
          <p:cNvSpPr/>
          <p:nvPr/>
        </p:nvSpPr>
        <p:spPr>
          <a:xfrm>
            <a:off x="1188720" y="1325880"/>
            <a:ext cx="10515600" cy="13716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1417320"/>
            <a:ext cx="10149840" cy="411480"/>
          </a:xfrm>
          <a:prstGeom prst="rect">
            <a:avLst/>
          </a:prstGeom>
          <a:noFill/>
        </p:spPr>
        <p:txBody>
          <a:bodyPr wrap="square">
            <a:spAutoFit/>
          </a:bodyPr>
          <a:lstStyle/>
          <a:p>
            <a:pPr algn="l"/>
            <a:r>
              <a:rPr b="1" i="0" sz="1700">
                <a:solidFill>
                  <a:srgbClr val="00A8E0"/>
                </a:solidFill>
                <a:latin typeface="Noto Sans JP"/>
              </a:rPr>
              <a:t>優れた有効性</a:t>
            </a:r>
          </a:p>
        </p:txBody>
      </p:sp>
      <p:sp>
        <p:nvSpPr>
          <p:cNvPr id="12" name="TextBox 11"/>
          <p:cNvSpPr txBox="1"/>
          <p:nvPr/>
        </p:nvSpPr>
        <p:spPr>
          <a:xfrm>
            <a:off x="1371600" y="1828800"/>
            <a:ext cx="10149840" cy="731520"/>
          </a:xfrm>
          <a:prstGeom prst="rect">
            <a:avLst/>
          </a:prstGeom>
          <a:noFill/>
        </p:spPr>
        <p:txBody>
          <a:bodyPr wrap="square">
            <a:spAutoFit/>
          </a:bodyPr>
          <a:lstStyle/>
          <a:p>
            <a:pPr algn="l"/>
            <a:r>
              <a:rPr b="0" i="0" sz="1300">
                <a:solidFill>
                  <a:srgbClr val="FFFFFF"/>
                </a:solidFill>
                <a:latin typeface="Noto Sans JP"/>
              </a:rPr>
              <a:t>全観察時点でVNSを上回る発作減少率（術後12ヵ月：65.28% vs 48.35%）
レスポンダー率72.22%・発作消失率22.22%を達成</a:t>
            </a:r>
          </a:p>
        </p:txBody>
      </p:sp>
      <p:sp>
        <p:nvSpPr>
          <p:cNvPr id="13" name="Rectangle 12"/>
          <p:cNvSpPr/>
          <p:nvPr/>
        </p:nvSpPr>
        <p:spPr>
          <a:xfrm>
            <a:off x="365760" y="2926080"/>
            <a:ext cx="731520" cy="731520"/>
          </a:xfrm>
          <a:prstGeom prst="rect">
            <a:avLst/>
          </a:prstGeom>
          <a:solidFill>
            <a:srgbClr val="00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2971800"/>
            <a:ext cx="731520" cy="640080"/>
          </a:xfrm>
          <a:prstGeom prst="rect">
            <a:avLst/>
          </a:prstGeom>
          <a:noFill/>
        </p:spPr>
        <p:txBody>
          <a:bodyPr wrap="square">
            <a:spAutoFit/>
          </a:bodyPr>
          <a:lstStyle/>
          <a:p>
            <a:pPr algn="ctr"/>
            <a:r>
              <a:rPr b="1" i="0" sz="2800">
                <a:solidFill>
                  <a:srgbClr val="FFFFFF"/>
                </a:solidFill>
                <a:latin typeface="Noto Sans JP"/>
              </a:rPr>
              <a:t>2</a:t>
            </a:r>
          </a:p>
        </p:txBody>
      </p:sp>
      <p:sp>
        <p:nvSpPr>
          <p:cNvPr id="15" name="Rectangle 14"/>
          <p:cNvSpPr/>
          <p:nvPr/>
        </p:nvSpPr>
        <p:spPr>
          <a:xfrm>
            <a:off x="1188720" y="2926080"/>
            <a:ext cx="10515600" cy="1371600"/>
          </a:xfrm>
          <a:prstGeom prst="rect">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71600" y="3017520"/>
            <a:ext cx="10149840" cy="411480"/>
          </a:xfrm>
          <a:prstGeom prst="rect">
            <a:avLst/>
          </a:prstGeom>
          <a:noFill/>
        </p:spPr>
        <p:txBody>
          <a:bodyPr wrap="square">
            <a:spAutoFit/>
          </a:bodyPr>
          <a:lstStyle/>
          <a:p>
            <a:pPr algn="l"/>
            <a:r>
              <a:rPr b="1" i="0" sz="1700">
                <a:solidFill>
                  <a:srgbClr val="003087"/>
                </a:solidFill>
                <a:latin typeface="Noto Sans JP"/>
              </a:rPr>
              <a:t>患者に合わせた治療選択</a:t>
            </a:r>
          </a:p>
        </p:txBody>
      </p:sp>
      <p:sp>
        <p:nvSpPr>
          <p:cNvPr id="17" name="TextBox 16"/>
          <p:cNvSpPr txBox="1"/>
          <p:nvPr/>
        </p:nvSpPr>
        <p:spPr>
          <a:xfrm>
            <a:off x="1371600" y="3429000"/>
            <a:ext cx="10149840" cy="731520"/>
          </a:xfrm>
          <a:prstGeom prst="rect">
            <a:avLst/>
          </a:prstGeom>
          <a:noFill/>
        </p:spPr>
        <p:txBody>
          <a:bodyPr wrap="square">
            <a:spAutoFit/>
          </a:bodyPr>
          <a:lstStyle/>
          <a:p>
            <a:pPr algn="l"/>
            <a:r>
              <a:rPr b="0" i="0" sz="1300">
                <a:solidFill>
                  <a:srgbClr val="003087"/>
                </a:solidFill>
                <a:latin typeface="Noto Sans JP"/>
              </a:rPr>
              <a:t>焦点性発作・開頭術歴あり・長期難治性 の患者で特に高い有効性
術前データから治療選択の根拠が得られる</a:t>
            </a:r>
          </a:p>
        </p:txBody>
      </p:sp>
      <p:sp>
        <p:nvSpPr>
          <p:cNvPr id="18" name="Rectangle 17"/>
          <p:cNvSpPr/>
          <p:nvPr/>
        </p:nvSpPr>
        <p:spPr>
          <a:xfrm>
            <a:off x="365760" y="4526280"/>
            <a:ext cx="731520" cy="731520"/>
          </a:xfrm>
          <a:prstGeom prst="rect">
            <a:avLst/>
          </a:prstGeom>
          <a:solidFill>
            <a:srgbClr val="00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4572000"/>
            <a:ext cx="731520" cy="640080"/>
          </a:xfrm>
          <a:prstGeom prst="rect">
            <a:avLst/>
          </a:prstGeom>
          <a:noFill/>
        </p:spPr>
        <p:txBody>
          <a:bodyPr wrap="square">
            <a:spAutoFit/>
          </a:bodyPr>
          <a:lstStyle/>
          <a:p>
            <a:pPr algn="ctr"/>
            <a:r>
              <a:rPr b="1" i="0" sz="2800">
                <a:solidFill>
                  <a:srgbClr val="FFFFFF"/>
                </a:solidFill>
                <a:latin typeface="Noto Sans JP"/>
              </a:rPr>
              <a:t>3</a:t>
            </a:r>
          </a:p>
        </p:txBody>
      </p:sp>
      <p:sp>
        <p:nvSpPr>
          <p:cNvPr id="20" name="Rectangle 19"/>
          <p:cNvSpPr/>
          <p:nvPr/>
        </p:nvSpPr>
        <p:spPr>
          <a:xfrm>
            <a:off x="1188720" y="4526280"/>
            <a:ext cx="10515600" cy="13716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71600" y="4617720"/>
            <a:ext cx="10149840" cy="411480"/>
          </a:xfrm>
          <a:prstGeom prst="rect">
            <a:avLst/>
          </a:prstGeom>
          <a:noFill/>
        </p:spPr>
        <p:txBody>
          <a:bodyPr wrap="square">
            <a:spAutoFit/>
          </a:bodyPr>
          <a:lstStyle/>
          <a:p>
            <a:pPr algn="l"/>
            <a:r>
              <a:rPr b="1" i="0" sz="1700">
                <a:solidFill>
                  <a:srgbClr val="00A8E0"/>
                </a:solidFill>
                <a:latin typeface="Noto Sans JP"/>
              </a:rPr>
              <a:t>良好な忍容性と継続性</a:t>
            </a:r>
          </a:p>
        </p:txBody>
      </p:sp>
      <p:sp>
        <p:nvSpPr>
          <p:cNvPr id="22" name="TextBox 21"/>
          <p:cNvSpPr txBox="1"/>
          <p:nvPr/>
        </p:nvSpPr>
        <p:spPr>
          <a:xfrm>
            <a:off x="1371600" y="5029200"/>
            <a:ext cx="10149840" cy="731520"/>
          </a:xfrm>
          <a:prstGeom prst="rect">
            <a:avLst/>
          </a:prstGeom>
          <a:noFill/>
        </p:spPr>
        <p:txBody>
          <a:bodyPr wrap="square">
            <a:spAutoFit/>
          </a:bodyPr>
          <a:lstStyle/>
          <a:p>
            <a:pPr algn="l"/>
            <a:r>
              <a:rPr b="0" i="0" sz="1300">
                <a:solidFill>
                  <a:srgbClr val="FFFFFF"/>
                </a:solidFill>
                <a:latin typeface="Noto Sans JP"/>
              </a:rPr>
              <a:t>重篤な合併症なく12ヵ月間継続可能
効果は時間経過とともにさらに蓄積（3ヵ月→12ヵ月で改善）</a:t>
            </a:r>
          </a:p>
        </p:txBody>
      </p:sp>
      <p:sp>
        <p:nvSpPr>
          <p:cNvPr id="23" name="Rectangle 22"/>
          <p:cNvSpPr/>
          <p:nvPr/>
        </p:nvSpPr>
        <p:spPr>
          <a:xfrm>
            <a:off x="365760" y="5943600"/>
            <a:ext cx="11338560" cy="502920"/>
          </a:xfrm>
          <a:prstGeom prst="rect">
            <a:avLst/>
          </a:prstGeom>
          <a:solidFill>
            <a:srgbClr val="00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5961888"/>
            <a:ext cx="11338560" cy="457200"/>
          </a:xfrm>
          <a:prstGeom prst="rect">
            <a:avLst/>
          </a:prstGeom>
          <a:noFill/>
        </p:spPr>
        <p:txBody>
          <a:bodyPr wrap="square">
            <a:spAutoFit/>
          </a:bodyPr>
          <a:lstStyle/>
          <a:p>
            <a:pPr algn="ctr"/>
            <a:r>
              <a:rPr b="1" i="0" sz="1400">
                <a:solidFill>
                  <a:srgbClr val="FFFFFF"/>
                </a:solidFill>
                <a:latin typeface="Noto Sans JP"/>
              </a:rPr>
              <a:t>薬剤抵抗性てんかんの患者さんに、次のステップを。  —  ANT-DBS 詳細はメドトロニック担当者まで</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